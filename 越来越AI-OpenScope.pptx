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19"/>
  </p:handoutMasterIdLst>
  <p:sldIdLst>
    <p:sldId id="485" r:id="rId3"/>
    <p:sldId id="667" r:id="rId5"/>
    <p:sldId id="479" r:id="rId6"/>
    <p:sldId id="612" r:id="rId7"/>
    <p:sldId id="708" r:id="rId8"/>
    <p:sldId id="678" r:id="rId9"/>
    <p:sldId id="679" r:id="rId10"/>
    <p:sldId id="710" r:id="rId11"/>
    <p:sldId id="680" r:id="rId12"/>
    <p:sldId id="644" r:id="rId13"/>
    <p:sldId id="712" r:id="rId14"/>
    <p:sldId id="711" r:id="rId15"/>
    <p:sldId id="695" r:id="rId16"/>
    <p:sldId id="713" r:id="rId17"/>
    <p:sldId id="490" r:id="rId18"/>
  </p:sldIdLst>
  <p:sldSz cx="9144000" cy="5143500" type="screen16x9"/>
  <p:notesSz cx="6858000" cy="9144000"/>
  <p:custDataLst>
    <p:tags r:id="rId24"/>
  </p:custDataLst>
  <p:defaultTextStyle>
    <a:defPPr>
      <a:defRPr lang="zh-CN"/>
    </a:defPPr>
    <a:lvl1pPr marL="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6" userDrawn="1">
          <p15:clr>
            <a:srgbClr val="A4A3A4"/>
          </p15:clr>
        </p15:guide>
        <p15:guide id="2" pos="3706" userDrawn="1">
          <p15:clr>
            <a:srgbClr val="A4A3A4"/>
          </p15:clr>
        </p15:guide>
        <p15:guide id="3" orient="horz" pos="1689" userDrawn="1">
          <p15:clr>
            <a:srgbClr val="A4A3A4"/>
          </p15:clr>
        </p15:guide>
        <p15:guide id="4" orient="horz" pos="672" userDrawn="1">
          <p15:clr>
            <a:srgbClr val="A4A3A4"/>
          </p15:clr>
        </p15:guide>
        <p15:guide id="5" orient="horz" pos="2960" userDrawn="1">
          <p15:clr>
            <a:srgbClr val="A4A3A4"/>
          </p15:clr>
        </p15:guide>
        <p15:guide id="6" pos="2912" userDrawn="1">
          <p15:clr>
            <a:srgbClr val="A4A3A4"/>
          </p15:clr>
        </p15:guide>
        <p15:guide id="7" pos="341" userDrawn="1">
          <p15:clr>
            <a:srgbClr val="A4A3A4"/>
          </p15:clr>
        </p15:guide>
        <p15:guide id="8" pos="534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胡 文心" initials="胡" lastIdx="1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A41C34"/>
    <a:srgbClr val="FF7000"/>
    <a:srgbClr val="008545"/>
    <a:srgbClr val="008645"/>
    <a:srgbClr val="0066E4"/>
    <a:srgbClr val="FF0000"/>
    <a:srgbClr val="FFEF00"/>
    <a:srgbClr val="E1DEC9"/>
    <a:srgbClr val="EECF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61" autoAdjust="0"/>
    <p:restoredTop sz="95872" autoAdjust="0"/>
  </p:normalViewPr>
  <p:slideViewPr>
    <p:cSldViewPr snapToGrid="0" snapToObjects="1" showGuides="1">
      <p:cViewPr varScale="1">
        <p:scale>
          <a:sx n="167" d="100"/>
          <a:sy n="167" d="100"/>
        </p:scale>
        <p:origin x="832" y="184"/>
      </p:cViewPr>
      <p:guideLst>
        <p:guide orient="horz" pos="2076"/>
        <p:guide pos="3706"/>
        <p:guide orient="horz" pos="1689"/>
        <p:guide orient="horz" pos="672"/>
        <p:guide orient="horz" pos="2960"/>
        <p:guide pos="2912"/>
        <p:guide pos="341"/>
        <p:guide pos="534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gs" Target="tags/tag13.xml"/><Relationship Id="rId23" Type="http://schemas.openxmlformats.org/officeDocument/2006/relationships/commentAuthors" Target="commentAuthors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18F8A-74B5-9148-A891-627592061A3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8768D9-5829-CA4C-800C-5932EF9830F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D6ACD6-F780-4A47-B5D9-D292A4BD6F8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1_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136860" y="4786900"/>
            <a:ext cx="820283" cy="276999"/>
          </a:xfrm>
          <a:prstGeom prst="rect">
            <a:avLst/>
          </a:prstGeom>
        </p:spPr>
        <p:txBody>
          <a:bodyPr lIns="68580" tIns="34290" rIns="68580" bIns="34290"/>
          <a:lstStyle/>
          <a:p>
            <a:pPr algn="ctr">
              <a:defRPr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fld id="{2EEF1883-7A0E-4F66-9932-E581691AD397}" type="slidenum"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1" i="0" kern="1200" baseline="0">
          <a:solidFill>
            <a:srgbClr val="071F65"/>
          </a:solidFill>
          <a:effectLst/>
          <a:latin typeface="Arial Black" panose="020B0A040201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67970" indent="-267970" algn="just" defTabSz="685800" rtl="0" eaLnBrk="1" latinLnBrk="0" hangingPunct="1">
        <a:lnSpc>
          <a:spcPct val="110000"/>
        </a:lnSpc>
        <a:spcBef>
          <a:spcPts val="1350"/>
        </a:spcBef>
        <a:spcAft>
          <a:spcPts val="0"/>
        </a:spcAft>
        <a:buClr>
          <a:schemeClr val="accent2">
            <a:lumMod val="75000"/>
          </a:schemeClr>
        </a:buClr>
        <a:buSzPct val="70000"/>
        <a:buFont typeface="Wingdings 2" panose="05020102010507070707" pitchFamily="18" charset="2"/>
        <a:buChar char=""/>
        <a:defRPr sz="1500" kern="1200" baseline="0">
          <a:solidFill>
            <a:srgbClr val="071F65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1pPr>
      <a:lvl2pPr marL="267970" indent="-267970" algn="just" defTabSz="685800" rtl="0" eaLnBrk="1" latinLnBrk="0" hangingPunct="1">
        <a:lnSpc>
          <a:spcPct val="130000"/>
        </a:lnSpc>
        <a:spcBef>
          <a:spcPts val="0"/>
        </a:spcBef>
        <a:spcAft>
          <a:spcPts val="45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200" kern="1200" baseline="0">
          <a:solidFill>
            <a:srgbClr val="071F65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3.png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8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2479675" y="3091816"/>
            <a:ext cx="5500370" cy="39116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dirty="0">
                <a:latin typeface="+mj-ea"/>
                <a:ea typeface="+mj-ea"/>
              </a:rPr>
              <a:t>团队名称</a:t>
            </a:r>
            <a:r>
              <a:rPr lang="en-US" altLang="zh-CN" dirty="0">
                <a:latin typeface="+mj-ea"/>
                <a:ea typeface="+mj-ea"/>
              </a:rPr>
              <a:t>：</a:t>
            </a:r>
            <a:r>
              <a:rPr lang="zh-CN" altLang="en-US" dirty="0">
                <a:latin typeface="+mj-ea"/>
                <a:ea typeface="+mj-ea"/>
              </a:rPr>
              <a:t>越来越</a:t>
            </a:r>
            <a:r>
              <a:rPr lang="en-US" altLang="zh-CN" dirty="0">
                <a:latin typeface="+mj-ea"/>
                <a:ea typeface="+mj-ea"/>
              </a:rPr>
              <a:t> AI</a:t>
            </a:r>
            <a:endParaRPr lang="en-US" altLang="zh-CN" dirty="0">
              <a:latin typeface="+mj-ea"/>
              <a:ea typeface="+mj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479675" y="3502025"/>
            <a:ext cx="887095" cy="283845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团队成员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kumimoji="1"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486660" y="1672590"/>
            <a:ext cx="5777865" cy="966470"/>
          </a:xfrm>
          <a:prstGeom prst="rect">
            <a:avLst/>
          </a:prstGeom>
        </p:spPr>
        <p:txBody>
          <a:bodyPr wrap="square" lIns="68580" tIns="34290" rIns="68580" bIns="3429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2500" b="1" kern="1600" dirty="0">
                <a:solidFill>
                  <a:srgbClr val="A41C34"/>
                </a:solidFill>
                <a:latin typeface="+mj-ea"/>
                <a:ea typeface="+mj-ea"/>
              </a:rPr>
              <a:t>OpenScope：基于大语言模型元数据推理的软件仓库自动技术标签生成方法</a:t>
            </a:r>
            <a:endParaRPr lang="en-US" altLang="zh-CN" sz="2500" b="1" kern="1600" dirty="0">
              <a:solidFill>
                <a:srgbClr val="A41C34"/>
              </a:solidFill>
              <a:latin typeface="+mj-ea"/>
              <a:ea typeface="+mj-ea"/>
            </a:endParaRPr>
          </a:p>
        </p:txBody>
      </p:sp>
      <p:sp>
        <p:nvSpPr>
          <p:cNvPr id="14" name="Freeform 5"/>
          <p:cNvSpPr>
            <a:spLocks noEditPoints="1"/>
          </p:cNvSpPr>
          <p:nvPr/>
        </p:nvSpPr>
        <p:spPr bwMode="auto">
          <a:xfrm>
            <a:off x="0" y="1164127"/>
            <a:ext cx="1790977" cy="2869814"/>
          </a:xfrm>
          <a:custGeom>
            <a:avLst/>
            <a:gdLst>
              <a:gd name="T0" fmla="*/ 0 w 7449"/>
              <a:gd name="T1" fmla="*/ 0 h 11906"/>
              <a:gd name="T2" fmla="*/ 7449 w 7449"/>
              <a:gd name="T3" fmla="*/ 4223 h 11906"/>
              <a:gd name="T4" fmla="*/ 0 w 7449"/>
              <a:gd name="T5" fmla="*/ 4223 h 11906"/>
              <a:gd name="T6" fmla="*/ 0 w 7449"/>
              <a:gd name="T7" fmla="*/ 0 h 11906"/>
              <a:gd name="T8" fmla="*/ 7449 w 7449"/>
              <a:gd name="T9" fmla="*/ 4302 h 11906"/>
              <a:gd name="T10" fmla="*/ 0 w 7449"/>
              <a:gd name="T11" fmla="*/ 8525 h 11906"/>
              <a:gd name="T12" fmla="*/ 0 w 7449"/>
              <a:gd name="T13" fmla="*/ 4302 h 11906"/>
              <a:gd name="T14" fmla="*/ 7449 w 7449"/>
              <a:gd name="T15" fmla="*/ 4302 h 11906"/>
              <a:gd name="T16" fmla="*/ 2857 w 7449"/>
              <a:gd name="T17" fmla="*/ 10038 h 11906"/>
              <a:gd name="T18" fmla="*/ 5 w 7449"/>
              <a:gd name="T19" fmla="*/ 11903 h 11906"/>
              <a:gd name="T20" fmla="*/ 0 w 7449"/>
              <a:gd name="T21" fmla="*/ 11906 h 11906"/>
              <a:gd name="T22" fmla="*/ 0 w 7449"/>
              <a:gd name="T23" fmla="*/ 8789 h 11906"/>
              <a:gd name="T24" fmla="*/ 2857 w 7449"/>
              <a:gd name="T25" fmla="*/ 7136 h 11906"/>
              <a:gd name="T26" fmla="*/ 2857 w 7449"/>
              <a:gd name="T27" fmla="*/ 10038 h 119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449" h="11906">
                <a:moveTo>
                  <a:pt x="0" y="0"/>
                </a:moveTo>
                <a:lnTo>
                  <a:pt x="7449" y="4223"/>
                </a:lnTo>
                <a:lnTo>
                  <a:pt x="0" y="4223"/>
                </a:lnTo>
                <a:lnTo>
                  <a:pt x="0" y="0"/>
                </a:lnTo>
                <a:close/>
                <a:moveTo>
                  <a:pt x="7449" y="4302"/>
                </a:moveTo>
                <a:lnTo>
                  <a:pt x="0" y="8525"/>
                </a:lnTo>
                <a:lnTo>
                  <a:pt x="0" y="4302"/>
                </a:lnTo>
                <a:lnTo>
                  <a:pt x="7449" y="4302"/>
                </a:lnTo>
                <a:close/>
                <a:moveTo>
                  <a:pt x="2857" y="10038"/>
                </a:moveTo>
                <a:cubicBezTo>
                  <a:pt x="2537" y="11326"/>
                  <a:pt x="721" y="11825"/>
                  <a:pt x="5" y="11903"/>
                </a:cubicBezTo>
                <a:lnTo>
                  <a:pt x="0" y="11906"/>
                </a:lnTo>
                <a:lnTo>
                  <a:pt x="0" y="8789"/>
                </a:lnTo>
                <a:lnTo>
                  <a:pt x="2857" y="7136"/>
                </a:lnTo>
                <a:lnTo>
                  <a:pt x="2857" y="10038"/>
                </a:lnTo>
                <a:close/>
              </a:path>
            </a:pathLst>
          </a:custGeom>
          <a:solidFill>
            <a:srgbClr val="A41C34"/>
          </a:solidFill>
          <a:ln w="5" cap="flat">
            <a:solidFill>
              <a:srgbClr val="A41C34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A41C34"/>
              </a:solidFill>
            </a:endParaRPr>
          </a:p>
        </p:txBody>
      </p:sp>
      <p:sp>
        <p:nvSpPr>
          <p:cNvPr id="15" name="Freeform 6"/>
          <p:cNvSpPr>
            <a:spLocks noEditPoints="1"/>
          </p:cNvSpPr>
          <p:nvPr/>
        </p:nvSpPr>
        <p:spPr bwMode="auto">
          <a:xfrm>
            <a:off x="1722420" y="2203161"/>
            <a:ext cx="137114" cy="1694253"/>
          </a:xfrm>
          <a:custGeom>
            <a:avLst/>
            <a:gdLst>
              <a:gd name="T0" fmla="*/ 246 w 571"/>
              <a:gd name="T1" fmla="*/ 0 h 7028"/>
              <a:gd name="T2" fmla="*/ 246 w 571"/>
              <a:gd name="T3" fmla="*/ 2716 h 7028"/>
              <a:gd name="T4" fmla="*/ 178 w 571"/>
              <a:gd name="T5" fmla="*/ 2816 h 7028"/>
              <a:gd name="T6" fmla="*/ 286 w 571"/>
              <a:gd name="T7" fmla="*/ 2924 h 7028"/>
              <a:gd name="T8" fmla="*/ 394 w 571"/>
              <a:gd name="T9" fmla="*/ 2816 h 7028"/>
              <a:gd name="T10" fmla="*/ 325 w 571"/>
              <a:gd name="T11" fmla="*/ 2716 h 7028"/>
              <a:gd name="T12" fmla="*/ 325 w 571"/>
              <a:gd name="T13" fmla="*/ 0 h 7028"/>
              <a:gd name="T14" fmla="*/ 246 w 571"/>
              <a:gd name="T15" fmla="*/ 0 h 7028"/>
              <a:gd name="T16" fmla="*/ 0 w 571"/>
              <a:gd name="T17" fmla="*/ 3749 h 7028"/>
              <a:gd name="T18" fmla="*/ 571 w 571"/>
              <a:gd name="T19" fmla="*/ 3749 h 7028"/>
              <a:gd name="T20" fmla="*/ 571 w 571"/>
              <a:gd name="T21" fmla="*/ 3790 h 7028"/>
              <a:gd name="T22" fmla="*/ 0 w 571"/>
              <a:gd name="T23" fmla="*/ 3790 h 7028"/>
              <a:gd name="T24" fmla="*/ 0 w 571"/>
              <a:gd name="T25" fmla="*/ 3749 h 7028"/>
              <a:gd name="T26" fmla="*/ 0 w 571"/>
              <a:gd name="T27" fmla="*/ 3323 h 7028"/>
              <a:gd name="T28" fmla="*/ 0 w 571"/>
              <a:gd name="T29" fmla="*/ 3323 h 7028"/>
              <a:gd name="T30" fmla="*/ 0 w 571"/>
              <a:gd name="T31" fmla="*/ 3323 h 7028"/>
              <a:gd name="T32" fmla="*/ 286 w 571"/>
              <a:gd name="T33" fmla="*/ 3037 h 7028"/>
              <a:gd name="T34" fmla="*/ 571 w 571"/>
              <a:gd name="T35" fmla="*/ 3323 h 7028"/>
              <a:gd name="T36" fmla="*/ 571 w 571"/>
              <a:gd name="T37" fmla="*/ 3323 h 7028"/>
              <a:gd name="T38" fmla="*/ 571 w 571"/>
              <a:gd name="T39" fmla="*/ 3323 h 7028"/>
              <a:gd name="T40" fmla="*/ 571 w 571"/>
              <a:gd name="T41" fmla="*/ 3683 h 7028"/>
              <a:gd name="T42" fmla="*/ 0 w 571"/>
              <a:gd name="T43" fmla="*/ 3683 h 7028"/>
              <a:gd name="T44" fmla="*/ 0 w 571"/>
              <a:gd name="T45" fmla="*/ 3323 h 7028"/>
              <a:gd name="T46" fmla="*/ 37 w 571"/>
              <a:gd name="T47" fmla="*/ 3885 h 7028"/>
              <a:gd name="T48" fmla="*/ 0 w 571"/>
              <a:gd name="T49" fmla="*/ 3885 h 7028"/>
              <a:gd name="T50" fmla="*/ 0 w 571"/>
              <a:gd name="T51" fmla="*/ 7028 h 7028"/>
              <a:gd name="T52" fmla="*/ 37 w 571"/>
              <a:gd name="T53" fmla="*/ 7028 h 7028"/>
              <a:gd name="T54" fmla="*/ 37 w 571"/>
              <a:gd name="T55" fmla="*/ 3885 h 7028"/>
              <a:gd name="T56" fmla="*/ 126 w 571"/>
              <a:gd name="T57" fmla="*/ 3885 h 7028"/>
              <a:gd name="T58" fmla="*/ 89 w 571"/>
              <a:gd name="T59" fmla="*/ 3885 h 7028"/>
              <a:gd name="T60" fmla="*/ 89 w 571"/>
              <a:gd name="T61" fmla="*/ 7028 h 7028"/>
              <a:gd name="T62" fmla="*/ 126 w 571"/>
              <a:gd name="T63" fmla="*/ 7028 h 7028"/>
              <a:gd name="T64" fmla="*/ 126 w 571"/>
              <a:gd name="T65" fmla="*/ 3885 h 7028"/>
              <a:gd name="T66" fmla="*/ 215 w 571"/>
              <a:gd name="T67" fmla="*/ 3885 h 7028"/>
              <a:gd name="T68" fmla="*/ 178 w 571"/>
              <a:gd name="T69" fmla="*/ 3885 h 7028"/>
              <a:gd name="T70" fmla="*/ 178 w 571"/>
              <a:gd name="T71" fmla="*/ 7028 h 7028"/>
              <a:gd name="T72" fmla="*/ 215 w 571"/>
              <a:gd name="T73" fmla="*/ 7028 h 7028"/>
              <a:gd name="T74" fmla="*/ 215 w 571"/>
              <a:gd name="T75" fmla="*/ 3885 h 7028"/>
              <a:gd name="T76" fmla="*/ 304 w 571"/>
              <a:gd name="T77" fmla="*/ 3885 h 7028"/>
              <a:gd name="T78" fmla="*/ 267 w 571"/>
              <a:gd name="T79" fmla="*/ 3885 h 7028"/>
              <a:gd name="T80" fmla="*/ 267 w 571"/>
              <a:gd name="T81" fmla="*/ 7028 h 7028"/>
              <a:gd name="T82" fmla="*/ 304 w 571"/>
              <a:gd name="T83" fmla="*/ 7028 h 7028"/>
              <a:gd name="T84" fmla="*/ 304 w 571"/>
              <a:gd name="T85" fmla="*/ 3885 h 7028"/>
              <a:gd name="T86" fmla="*/ 393 w 571"/>
              <a:gd name="T87" fmla="*/ 3885 h 7028"/>
              <a:gd name="T88" fmla="*/ 356 w 571"/>
              <a:gd name="T89" fmla="*/ 3885 h 7028"/>
              <a:gd name="T90" fmla="*/ 356 w 571"/>
              <a:gd name="T91" fmla="*/ 7028 h 7028"/>
              <a:gd name="T92" fmla="*/ 393 w 571"/>
              <a:gd name="T93" fmla="*/ 7028 h 7028"/>
              <a:gd name="T94" fmla="*/ 393 w 571"/>
              <a:gd name="T95" fmla="*/ 3885 h 7028"/>
              <a:gd name="T96" fmla="*/ 482 w 571"/>
              <a:gd name="T97" fmla="*/ 3885 h 7028"/>
              <a:gd name="T98" fmla="*/ 445 w 571"/>
              <a:gd name="T99" fmla="*/ 3885 h 7028"/>
              <a:gd name="T100" fmla="*/ 445 w 571"/>
              <a:gd name="T101" fmla="*/ 7028 h 7028"/>
              <a:gd name="T102" fmla="*/ 482 w 571"/>
              <a:gd name="T103" fmla="*/ 7028 h 7028"/>
              <a:gd name="T104" fmla="*/ 482 w 571"/>
              <a:gd name="T105" fmla="*/ 3885 h 7028"/>
              <a:gd name="T106" fmla="*/ 571 w 571"/>
              <a:gd name="T107" fmla="*/ 3885 h 7028"/>
              <a:gd name="T108" fmla="*/ 534 w 571"/>
              <a:gd name="T109" fmla="*/ 3885 h 7028"/>
              <a:gd name="T110" fmla="*/ 534 w 571"/>
              <a:gd name="T111" fmla="*/ 7028 h 7028"/>
              <a:gd name="T112" fmla="*/ 571 w 571"/>
              <a:gd name="T113" fmla="*/ 7028 h 7028"/>
              <a:gd name="T114" fmla="*/ 571 w 571"/>
              <a:gd name="T115" fmla="*/ 3885 h 70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571" h="7028">
                <a:moveTo>
                  <a:pt x="246" y="0"/>
                </a:moveTo>
                <a:lnTo>
                  <a:pt x="246" y="2716"/>
                </a:lnTo>
                <a:cubicBezTo>
                  <a:pt x="206" y="2731"/>
                  <a:pt x="178" y="2770"/>
                  <a:pt x="178" y="2816"/>
                </a:cubicBezTo>
                <a:cubicBezTo>
                  <a:pt x="178" y="2876"/>
                  <a:pt x="226" y="2924"/>
                  <a:pt x="286" y="2924"/>
                </a:cubicBezTo>
                <a:cubicBezTo>
                  <a:pt x="345" y="2924"/>
                  <a:pt x="394" y="2876"/>
                  <a:pt x="394" y="2816"/>
                </a:cubicBezTo>
                <a:cubicBezTo>
                  <a:pt x="394" y="2770"/>
                  <a:pt x="365" y="2731"/>
                  <a:pt x="325" y="2716"/>
                </a:cubicBezTo>
                <a:lnTo>
                  <a:pt x="325" y="0"/>
                </a:lnTo>
                <a:lnTo>
                  <a:pt x="246" y="0"/>
                </a:lnTo>
                <a:close/>
                <a:moveTo>
                  <a:pt x="0" y="3749"/>
                </a:moveTo>
                <a:lnTo>
                  <a:pt x="571" y="3749"/>
                </a:lnTo>
                <a:lnTo>
                  <a:pt x="571" y="3790"/>
                </a:lnTo>
                <a:lnTo>
                  <a:pt x="0" y="3790"/>
                </a:lnTo>
                <a:lnTo>
                  <a:pt x="0" y="3749"/>
                </a:lnTo>
                <a:close/>
                <a:moveTo>
                  <a:pt x="0" y="3323"/>
                </a:moveTo>
                <a:lnTo>
                  <a:pt x="0" y="3323"/>
                </a:lnTo>
                <a:lnTo>
                  <a:pt x="0" y="3323"/>
                </a:lnTo>
                <a:cubicBezTo>
                  <a:pt x="0" y="3165"/>
                  <a:pt x="128" y="3037"/>
                  <a:pt x="286" y="3037"/>
                </a:cubicBezTo>
                <a:cubicBezTo>
                  <a:pt x="443" y="3037"/>
                  <a:pt x="571" y="3165"/>
                  <a:pt x="571" y="3323"/>
                </a:cubicBezTo>
                <a:lnTo>
                  <a:pt x="571" y="3323"/>
                </a:lnTo>
                <a:lnTo>
                  <a:pt x="571" y="3323"/>
                </a:lnTo>
                <a:lnTo>
                  <a:pt x="571" y="3683"/>
                </a:lnTo>
                <a:lnTo>
                  <a:pt x="0" y="3683"/>
                </a:lnTo>
                <a:lnTo>
                  <a:pt x="0" y="3323"/>
                </a:lnTo>
                <a:close/>
                <a:moveTo>
                  <a:pt x="37" y="3885"/>
                </a:moveTo>
                <a:lnTo>
                  <a:pt x="0" y="3885"/>
                </a:lnTo>
                <a:lnTo>
                  <a:pt x="0" y="7028"/>
                </a:lnTo>
                <a:lnTo>
                  <a:pt x="37" y="7028"/>
                </a:lnTo>
                <a:lnTo>
                  <a:pt x="37" y="3885"/>
                </a:lnTo>
                <a:close/>
                <a:moveTo>
                  <a:pt x="126" y="3885"/>
                </a:moveTo>
                <a:lnTo>
                  <a:pt x="89" y="3885"/>
                </a:lnTo>
                <a:lnTo>
                  <a:pt x="89" y="7028"/>
                </a:lnTo>
                <a:lnTo>
                  <a:pt x="126" y="7028"/>
                </a:lnTo>
                <a:lnTo>
                  <a:pt x="126" y="3885"/>
                </a:lnTo>
                <a:close/>
                <a:moveTo>
                  <a:pt x="215" y="3885"/>
                </a:moveTo>
                <a:lnTo>
                  <a:pt x="178" y="3885"/>
                </a:lnTo>
                <a:lnTo>
                  <a:pt x="178" y="7028"/>
                </a:lnTo>
                <a:lnTo>
                  <a:pt x="215" y="7028"/>
                </a:lnTo>
                <a:lnTo>
                  <a:pt x="215" y="3885"/>
                </a:lnTo>
                <a:close/>
                <a:moveTo>
                  <a:pt x="304" y="3885"/>
                </a:moveTo>
                <a:lnTo>
                  <a:pt x="267" y="3885"/>
                </a:lnTo>
                <a:lnTo>
                  <a:pt x="267" y="7028"/>
                </a:lnTo>
                <a:lnTo>
                  <a:pt x="304" y="7028"/>
                </a:lnTo>
                <a:lnTo>
                  <a:pt x="304" y="3885"/>
                </a:lnTo>
                <a:close/>
                <a:moveTo>
                  <a:pt x="393" y="3885"/>
                </a:moveTo>
                <a:lnTo>
                  <a:pt x="356" y="3885"/>
                </a:lnTo>
                <a:lnTo>
                  <a:pt x="356" y="7028"/>
                </a:lnTo>
                <a:lnTo>
                  <a:pt x="393" y="7028"/>
                </a:lnTo>
                <a:lnTo>
                  <a:pt x="393" y="3885"/>
                </a:lnTo>
                <a:close/>
                <a:moveTo>
                  <a:pt x="482" y="3885"/>
                </a:moveTo>
                <a:lnTo>
                  <a:pt x="445" y="3885"/>
                </a:lnTo>
                <a:lnTo>
                  <a:pt x="445" y="7028"/>
                </a:lnTo>
                <a:lnTo>
                  <a:pt x="482" y="7028"/>
                </a:lnTo>
                <a:lnTo>
                  <a:pt x="482" y="3885"/>
                </a:lnTo>
                <a:close/>
                <a:moveTo>
                  <a:pt x="571" y="3885"/>
                </a:moveTo>
                <a:lnTo>
                  <a:pt x="534" y="3885"/>
                </a:lnTo>
                <a:lnTo>
                  <a:pt x="534" y="7028"/>
                </a:lnTo>
                <a:lnTo>
                  <a:pt x="571" y="7028"/>
                </a:lnTo>
                <a:lnTo>
                  <a:pt x="571" y="3885"/>
                </a:lnTo>
                <a:close/>
              </a:path>
            </a:pathLst>
          </a:custGeom>
          <a:solidFill>
            <a:srgbClr val="A51C3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64" t="37753" b="44070"/>
          <a:stretch>
            <a:fillRect/>
          </a:stretch>
        </p:blipFill>
        <p:spPr>
          <a:xfrm>
            <a:off x="2332748" y="476927"/>
            <a:ext cx="3897571" cy="96548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3366770" y="3408680"/>
            <a:ext cx="3561715" cy="103759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p>
            <a:pPr>
              <a:lnSpc>
                <a:spcPct val="150000"/>
              </a:lnSpc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韩凡宇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华东师范大学博士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研究生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马力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武汉金山办公软件有限公司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刘荣清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武汉源启科技股份有限公司</a:t>
            </a:r>
            <a:endParaRPr kumimoji="1"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873141" y="466830"/>
            <a:ext cx="1146310" cy="1146310"/>
          </a:xfrm>
          <a:prstGeom prst="ellipse">
            <a:avLst/>
          </a:prstGeom>
          <a:solidFill>
            <a:srgbClr val="A41C34"/>
          </a:solidFill>
          <a:ln w="165100">
            <a:solidFill>
              <a:srgbClr val="E1DE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6" name="TextBox 145"/>
          <p:cNvSpPr txBox="1"/>
          <p:nvPr/>
        </p:nvSpPr>
        <p:spPr>
          <a:xfrm>
            <a:off x="938783" y="684205"/>
            <a:ext cx="1023561" cy="503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2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903594" y="1150269"/>
            <a:ext cx="10876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Freeform 5"/>
          <p:cNvSpPr/>
          <p:nvPr/>
        </p:nvSpPr>
        <p:spPr bwMode="auto">
          <a:xfrm>
            <a:off x="2382" y="2262776"/>
            <a:ext cx="9141619" cy="1084926"/>
          </a:xfrm>
          <a:custGeom>
            <a:avLst/>
            <a:gdLst>
              <a:gd name="T0" fmla="*/ 0 w 2601"/>
              <a:gd name="T1" fmla="*/ 139 h 306"/>
              <a:gd name="T2" fmla="*/ 647 w 2601"/>
              <a:gd name="T3" fmla="*/ 304 h 306"/>
              <a:gd name="T4" fmla="*/ 1863 w 2601"/>
              <a:gd name="T5" fmla="*/ 11 h 306"/>
              <a:gd name="T6" fmla="*/ 2601 w 2601"/>
              <a:gd name="T7" fmla="*/ 259 h 3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601" h="306">
                <a:moveTo>
                  <a:pt x="0" y="139"/>
                </a:moveTo>
                <a:cubicBezTo>
                  <a:pt x="0" y="139"/>
                  <a:pt x="179" y="301"/>
                  <a:pt x="647" y="304"/>
                </a:cubicBezTo>
                <a:cubicBezTo>
                  <a:pt x="1090" y="306"/>
                  <a:pt x="1474" y="0"/>
                  <a:pt x="1863" y="11"/>
                </a:cubicBezTo>
                <a:cubicBezTo>
                  <a:pt x="2253" y="21"/>
                  <a:pt x="2601" y="259"/>
                  <a:pt x="2601" y="259"/>
                </a:cubicBezTo>
              </a:path>
            </a:pathLst>
          </a:custGeom>
          <a:noFill/>
          <a:ln w="22225" cap="flat">
            <a:solidFill>
              <a:srgbClr val="A41C34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816008" y="2756789"/>
            <a:ext cx="749673" cy="751323"/>
            <a:chOff x="816008" y="2756789"/>
            <a:chExt cx="749673" cy="751323"/>
          </a:xfrm>
        </p:grpSpPr>
        <p:sp>
          <p:nvSpPr>
            <p:cNvPr id="49" name="椭圆 18"/>
            <p:cNvSpPr>
              <a:spLocks noChangeArrowheads="1"/>
            </p:cNvSpPr>
            <p:nvPr/>
          </p:nvSpPr>
          <p:spPr bwMode="auto">
            <a:xfrm>
              <a:off x="816008" y="2756789"/>
              <a:ext cx="749673" cy="751323"/>
            </a:xfrm>
            <a:prstGeom prst="ellipse">
              <a:avLst/>
            </a:prstGeom>
            <a:solidFill>
              <a:srgbClr val="A41C34"/>
            </a:solidFill>
            <a:ln w="38100">
              <a:solidFill>
                <a:srgbClr val="E1DEC9"/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9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9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9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9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sym typeface="微软雅黑" panose="020B0503020204020204" pitchFamily="34" charset="-122"/>
              </a:endParaRPr>
            </a:p>
          </p:txBody>
        </p:sp>
        <p:pic>
          <p:nvPicPr>
            <p:cNvPr id="50" name="图片 49"/>
            <p:cNvPicPr>
              <a:picLocks noChangeAspect="1"/>
            </p:cNvPicPr>
            <p:nvPr/>
          </p:nvPicPr>
          <p:blipFill>
            <a:blip r:embed="rId1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6430" y="2875344"/>
              <a:ext cx="479696" cy="491384"/>
            </a:xfrm>
            <a:prstGeom prst="rect">
              <a:avLst/>
            </a:prstGeom>
            <a:solidFill>
              <a:srgbClr val="A41C34"/>
            </a:solidFill>
          </p:spPr>
        </p:pic>
      </p:grpSp>
      <p:sp>
        <p:nvSpPr>
          <p:cNvPr id="53" name="椭圆 19"/>
          <p:cNvSpPr>
            <a:spLocks noChangeArrowheads="1"/>
          </p:cNvSpPr>
          <p:nvPr/>
        </p:nvSpPr>
        <p:spPr bwMode="auto">
          <a:xfrm>
            <a:off x="2430518" y="2882260"/>
            <a:ext cx="749673" cy="751323"/>
          </a:xfrm>
          <a:prstGeom prst="ellipse">
            <a:avLst/>
          </a:prstGeom>
          <a:solidFill>
            <a:srgbClr val="A41C34"/>
          </a:solidFill>
          <a:ln w="38100">
            <a:solidFill>
              <a:srgbClr val="E1DEC9"/>
            </a:solidFill>
            <a:miter lim="800000"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9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pic>
        <p:nvPicPr>
          <p:cNvPr id="54" name="图片 53"/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826" y="3028847"/>
            <a:ext cx="480533" cy="492241"/>
          </a:xfrm>
          <a:prstGeom prst="rect">
            <a:avLst/>
          </a:prstGeom>
          <a:solidFill>
            <a:srgbClr val="A41C34"/>
          </a:solidFill>
        </p:spPr>
      </p:pic>
      <p:sp>
        <p:nvSpPr>
          <p:cNvPr id="56" name="椭圆 20"/>
          <p:cNvSpPr>
            <a:spLocks noChangeArrowheads="1"/>
          </p:cNvSpPr>
          <p:nvPr/>
        </p:nvSpPr>
        <p:spPr bwMode="auto">
          <a:xfrm>
            <a:off x="3987654" y="2353136"/>
            <a:ext cx="749673" cy="749944"/>
          </a:xfrm>
          <a:prstGeom prst="ellipse">
            <a:avLst/>
          </a:prstGeom>
          <a:solidFill>
            <a:srgbClr val="A41C34"/>
          </a:solidFill>
          <a:ln w="38100">
            <a:solidFill>
              <a:srgbClr val="E1DEC9"/>
            </a:solidFill>
            <a:miter lim="800000"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9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4132563" y="2478150"/>
            <a:ext cx="450722" cy="461554"/>
            <a:chOff x="9901114" y="2870043"/>
            <a:chExt cx="1094967" cy="1121279"/>
          </a:xfrm>
        </p:grpSpPr>
        <p:sp>
          <p:nvSpPr>
            <p:cNvPr id="58" name="Freeform 5"/>
            <p:cNvSpPr/>
            <p:nvPr/>
          </p:nvSpPr>
          <p:spPr bwMode="auto">
            <a:xfrm>
              <a:off x="10585467" y="2870043"/>
              <a:ext cx="234963" cy="800500"/>
            </a:xfrm>
            <a:custGeom>
              <a:avLst/>
              <a:gdLst>
                <a:gd name="T0" fmla="*/ 2 w 43"/>
                <a:gd name="T1" fmla="*/ 115 h 115"/>
                <a:gd name="T2" fmla="*/ 3 w 43"/>
                <a:gd name="T3" fmla="*/ 115 h 115"/>
                <a:gd name="T4" fmla="*/ 3 w 43"/>
                <a:gd name="T5" fmla="*/ 115 h 115"/>
                <a:gd name="T6" fmla="*/ 3 w 43"/>
                <a:gd name="T7" fmla="*/ 115 h 115"/>
                <a:gd name="T8" fmla="*/ 4 w 43"/>
                <a:gd name="T9" fmla="*/ 115 h 115"/>
                <a:gd name="T10" fmla="*/ 4 w 43"/>
                <a:gd name="T11" fmla="*/ 115 h 115"/>
                <a:gd name="T12" fmla="*/ 5 w 43"/>
                <a:gd name="T13" fmla="*/ 114 h 115"/>
                <a:gd name="T14" fmla="*/ 22 w 43"/>
                <a:gd name="T15" fmla="*/ 98 h 115"/>
                <a:gd name="T16" fmla="*/ 38 w 43"/>
                <a:gd name="T17" fmla="*/ 114 h 115"/>
                <a:gd name="T18" fmla="*/ 39 w 43"/>
                <a:gd name="T19" fmla="*/ 115 h 115"/>
                <a:gd name="T20" fmla="*/ 39 w 43"/>
                <a:gd name="T21" fmla="*/ 115 h 115"/>
                <a:gd name="T22" fmla="*/ 40 w 43"/>
                <a:gd name="T23" fmla="*/ 115 h 115"/>
                <a:gd name="T24" fmla="*/ 40 w 43"/>
                <a:gd name="T25" fmla="*/ 115 h 115"/>
                <a:gd name="T26" fmla="*/ 40 w 43"/>
                <a:gd name="T27" fmla="*/ 115 h 115"/>
                <a:gd name="T28" fmla="*/ 41 w 43"/>
                <a:gd name="T29" fmla="*/ 115 h 115"/>
                <a:gd name="T30" fmla="*/ 42 w 43"/>
                <a:gd name="T31" fmla="*/ 114 h 115"/>
                <a:gd name="T32" fmla="*/ 43 w 43"/>
                <a:gd name="T33" fmla="*/ 112 h 115"/>
                <a:gd name="T34" fmla="*/ 43 w 43"/>
                <a:gd name="T35" fmla="*/ 27 h 115"/>
                <a:gd name="T36" fmla="*/ 43 w 43"/>
                <a:gd name="T37" fmla="*/ 13 h 115"/>
                <a:gd name="T38" fmla="*/ 43 w 43"/>
                <a:gd name="T39" fmla="*/ 3 h 115"/>
                <a:gd name="T40" fmla="*/ 42 w 43"/>
                <a:gd name="T41" fmla="*/ 1 h 115"/>
                <a:gd name="T42" fmla="*/ 40 w 43"/>
                <a:gd name="T43" fmla="*/ 0 h 115"/>
                <a:gd name="T44" fmla="*/ 3 w 43"/>
                <a:gd name="T45" fmla="*/ 0 h 115"/>
                <a:gd name="T46" fmla="*/ 3 w 43"/>
                <a:gd name="T47" fmla="*/ 0 h 115"/>
                <a:gd name="T48" fmla="*/ 2 w 43"/>
                <a:gd name="T49" fmla="*/ 1 h 115"/>
                <a:gd name="T50" fmla="*/ 2 w 43"/>
                <a:gd name="T51" fmla="*/ 1 h 115"/>
                <a:gd name="T52" fmla="*/ 0 w 43"/>
                <a:gd name="T53" fmla="*/ 3 h 115"/>
                <a:gd name="T54" fmla="*/ 0 w 43"/>
                <a:gd name="T55" fmla="*/ 13 h 115"/>
                <a:gd name="T56" fmla="*/ 0 w 43"/>
                <a:gd name="T57" fmla="*/ 27 h 115"/>
                <a:gd name="T58" fmla="*/ 0 w 43"/>
                <a:gd name="T59" fmla="*/ 112 h 115"/>
                <a:gd name="T60" fmla="*/ 2 w 43"/>
                <a:gd name="T61" fmla="*/ 1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3" h="115">
                  <a:moveTo>
                    <a:pt x="2" y="115"/>
                  </a:moveTo>
                  <a:cubicBezTo>
                    <a:pt x="2" y="115"/>
                    <a:pt x="2" y="115"/>
                    <a:pt x="3" y="115"/>
                  </a:cubicBezTo>
                  <a:cubicBezTo>
                    <a:pt x="3" y="115"/>
                    <a:pt x="3" y="115"/>
                    <a:pt x="3" y="115"/>
                  </a:cubicBezTo>
                  <a:cubicBezTo>
                    <a:pt x="3" y="115"/>
                    <a:pt x="3" y="115"/>
                    <a:pt x="3" y="115"/>
                  </a:cubicBezTo>
                  <a:cubicBezTo>
                    <a:pt x="3" y="115"/>
                    <a:pt x="4" y="115"/>
                    <a:pt x="4" y="115"/>
                  </a:cubicBezTo>
                  <a:cubicBezTo>
                    <a:pt x="4" y="115"/>
                    <a:pt x="4" y="115"/>
                    <a:pt x="4" y="115"/>
                  </a:cubicBezTo>
                  <a:cubicBezTo>
                    <a:pt x="4" y="115"/>
                    <a:pt x="5" y="114"/>
                    <a:pt x="5" y="114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38" y="114"/>
                    <a:pt x="38" y="114"/>
                    <a:pt x="38" y="114"/>
                  </a:cubicBezTo>
                  <a:cubicBezTo>
                    <a:pt x="38" y="114"/>
                    <a:pt x="39" y="115"/>
                    <a:pt x="39" y="115"/>
                  </a:cubicBezTo>
                  <a:cubicBezTo>
                    <a:pt x="39" y="115"/>
                    <a:pt x="39" y="115"/>
                    <a:pt x="39" y="115"/>
                  </a:cubicBezTo>
                  <a:cubicBezTo>
                    <a:pt x="40" y="115"/>
                    <a:pt x="40" y="115"/>
                    <a:pt x="40" y="115"/>
                  </a:cubicBezTo>
                  <a:cubicBezTo>
                    <a:pt x="40" y="115"/>
                    <a:pt x="40" y="115"/>
                    <a:pt x="40" y="115"/>
                  </a:cubicBezTo>
                  <a:cubicBezTo>
                    <a:pt x="40" y="115"/>
                    <a:pt x="40" y="115"/>
                    <a:pt x="40" y="115"/>
                  </a:cubicBezTo>
                  <a:cubicBezTo>
                    <a:pt x="41" y="115"/>
                    <a:pt x="41" y="115"/>
                    <a:pt x="41" y="115"/>
                  </a:cubicBezTo>
                  <a:cubicBezTo>
                    <a:pt x="42" y="115"/>
                    <a:pt x="42" y="114"/>
                    <a:pt x="42" y="114"/>
                  </a:cubicBezTo>
                  <a:cubicBezTo>
                    <a:pt x="43" y="114"/>
                    <a:pt x="43" y="113"/>
                    <a:pt x="43" y="112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43" y="3"/>
                    <a:pt x="43" y="2"/>
                    <a:pt x="42" y="1"/>
                  </a:cubicBezTo>
                  <a:cubicBezTo>
                    <a:pt x="42" y="1"/>
                    <a:pt x="41" y="0"/>
                    <a:pt x="40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2" y="0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1" y="1"/>
                    <a:pt x="0" y="2"/>
                    <a:pt x="0" y="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12"/>
                    <a:pt x="0" y="112"/>
                    <a:pt x="0" y="112"/>
                  </a:cubicBezTo>
                  <a:cubicBezTo>
                    <a:pt x="0" y="113"/>
                    <a:pt x="1" y="114"/>
                    <a:pt x="2" y="115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59" name="Freeform 6"/>
            <p:cNvSpPr/>
            <p:nvPr/>
          </p:nvSpPr>
          <p:spPr bwMode="auto">
            <a:xfrm>
              <a:off x="10044830" y="3280407"/>
              <a:ext cx="289711" cy="34679"/>
            </a:xfrm>
            <a:custGeom>
              <a:avLst/>
              <a:gdLst>
                <a:gd name="T0" fmla="*/ 0 w 53"/>
                <a:gd name="T1" fmla="*/ 3 h 5"/>
                <a:gd name="T2" fmla="*/ 3 w 53"/>
                <a:gd name="T3" fmla="*/ 5 h 5"/>
                <a:gd name="T4" fmla="*/ 50 w 53"/>
                <a:gd name="T5" fmla="*/ 5 h 5"/>
                <a:gd name="T6" fmla="*/ 53 w 53"/>
                <a:gd name="T7" fmla="*/ 3 h 5"/>
                <a:gd name="T8" fmla="*/ 50 w 53"/>
                <a:gd name="T9" fmla="*/ 0 h 5"/>
                <a:gd name="T10" fmla="*/ 3 w 53"/>
                <a:gd name="T11" fmla="*/ 0 h 5"/>
                <a:gd name="T12" fmla="*/ 0 w 53"/>
                <a:gd name="T13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" h="5">
                  <a:moveTo>
                    <a:pt x="0" y="3"/>
                  </a:moveTo>
                  <a:cubicBezTo>
                    <a:pt x="0" y="4"/>
                    <a:pt x="2" y="5"/>
                    <a:pt x="3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2" y="5"/>
                    <a:pt x="53" y="4"/>
                    <a:pt x="53" y="3"/>
                  </a:cubicBezTo>
                  <a:cubicBezTo>
                    <a:pt x="53" y="1"/>
                    <a:pt x="52" y="0"/>
                    <a:pt x="50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0" y="1"/>
                    <a:pt x="0" y="3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60" name="Freeform 7"/>
            <p:cNvSpPr/>
            <p:nvPr/>
          </p:nvSpPr>
          <p:spPr bwMode="auto">
            <a:xfrm>
              <a:off x="10044830" y="3442241"/>
              <a:ext cx="289711" cy="34679"/>
            </a:xfrm>
            <a:custGeom>
              <a:avLst/>
              <a:gdLst>
                <a:gd name="T0" fmla="*/ 50 w 53"/>
                <a:gd name="T1" fmla="*/ 0 h 5"/>
                <a:gd name="T2" fmla="*/ 3 w 53"/>
                <a:gd name="T3" fmla="*/ 0 h 5"/>
                <a:gd name="T4" fmla="*/ 0 w 53"/>
                <a:gd name="T5" fmla="*/ 2 h 5"/>
                <a:gd name="T6" fmla="*/ 3 w 53"/>
                <a:gd name="T7" fmla="*/ 5 h 5"/>
                <a:gd name="T8" fmla="*/ 50 w 53"/>
                <a:gd name="T9" fmla="*/ 5 h 5"/>
                <a:gd name="T10" fmla="*/ 53 w 53"/>
                <a:gd name="T11" fmla="*/ 2 h 5"/>
                <a:gd name="T12" fmla="*/ 50 w 53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" h="5">
                  <a:moveTo>
                    <a:pt x="50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0" y="1"/>
                    <a:pt x="0" y="2"/>
                  </a:cubicBezTo>
                  <a:cubicBezTo>
                    <a:pt x="0" y="4"/>
                    <a:pt x="2" y="5"/>
                    <a:pt x="3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2" y="5"/>
                    <a:pt x="53" y="4"/>
                    <a:pt x="53" y="2"/>
                  </a:cubicBezTo>
                  <a:cubicBezTo>
                    <a:pt x="53" y="1"/>
                    <a:pt x="52" y="0"/>
                    <a:pt x="50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61" name="Freeform 8"/>
            <p:cNvSpPr/>
            <p:nvPr/>
          </p:nvSpPr>
          <p:spPr bwMode="auto">
            <a:xfrm>
              <a:off x="10044830" y="3601186"/>
              <a:ext cx="289711" cy="34679"/>
            </a:xfrm>
            <a:custGeom>
              <a:avLst/>
              <a:gdLst>
                <a:gd name="T0" fmla="*/ 50 w 53"/>
                <a:gd name="T1" fmla="*/ 0 h 5"/>
                <a:gd name="T2" fmla="*/ 3 w 53"/>
                <a:gd name="T3" fmla="*/ 0 h 5"/>
                <a:gd name="T4" fmla="*/ 0 w 53"/>
                <a:gd name="T5" fmla="*/ 2 h 5"/>
                <a:gd name="T6" fmla="*/ 3 w 53"/>
                <a:gd name="T7" fmla="*/ 5 h 5"/>
                <a:gd name="T8" fmla="*/ 50 w 53"/>
                <a:gd name="T9" fmla="*/ 5 h 5"/>
                <a:gd name="T10" fmla="*/ 53 w 53"/>
                <a:gd name="T11" fmla="*/ 2 h 5"/>
                <a:gd name="T12" fmla="*/ 50 w 53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" h="5">
                  <a:moveTo>
                    <a:pt x="50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0" y="1"/>
                    <a:pt x="0" y="2"/>
                  </a:cubicBezTo>
                  <a:cubicBezTo>
                    <a:pt x="0" y="4"/>
                    <a:pt x="2" y="5"/>
                    <a:pt x="3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2" y="5"/>
                    <a:pt x="53" y="4"/>
                    <a:pt x="53" y="2"/>
                  </a:cubicBezTo>
                  <a:cubicBezTo>
                    <a:pt x="53" y="1"/>
                    <a:pt x="52" y="0"/>
                    <a:pt x="50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62" name="Freeform 9"/>
            <p:cNvSpPr>
              <a:spLocks noEditPoints="1"/>
            </p:cNvSpPr>
            <p:nvPr/>
          </p:nvSpPr>
          <p:spPr bwMode="auto">
            <a:xfrm>
              <a:off x="9901114" y="2953851"/>
              <a:ext cx="1094967" cy="1037471"/>
            </a:xfrm>
            <a:custGeom>
              <a:avLst/>
              <a:gdLst>
                <a:gd name="T0" fmla="*/ 177 w 200"/>
                <a:gd name="T1" fmla="*/ 3 h 149"/>
                <a:gd name="T2" fmla="*/ 177 w 200"/>
                <a:gd name="T3" fmla="*/ 17 h 149"/>
                <a:gd name="T4" fmla="*/ 186 w 200"/>
                <a:gd name="T5" fmla="*/ 21 h 149"/>
                <a:gd name="T6" fmla="*/ 186 w 200"/>
                <a:gd name="T7" fmla="*/ 134 h 149"/>
                <a:gd name="T8" fmla="*/ 107 w 200"/>
                <a:gd name="T9" fmla="*/ 134 h 149"/>
                <a:gd name="T10" fmla="*/ 107 w 200"/>
                <a:gd name="T11" fmla="*/ 21 h 149"/>
                <a:gd name="T12" fmla="*/ 117 w 200"/>
                <a:gd name="T13" fmla="*/ 17 h 149"/>
                <a:gd name="T14" fmla="*/ 117 w 200"/>
                <a:gd name="T15" fmla="*/ 3 h 149"/>
                <a:gd name="T16" fmla="*/ 100 w 200"/>
                <a:gd name="T17" fmla="*/ 9 h 149"/>
                <a:gd name="T18" fmla="*/ 53 w 200"/>
                <a:gd name="T19" fmla="*/ 0 h 149"/>
                <a:gd name="T20" fmla="*/ 0 w 200"/>
                <a:gd name="T21" fmla="*/ 20 h 149"/>
                <a:gd name="T22" fmla="*/ 0 w 200"/>
                <a:gd name="T23" fmla="*/ 142 h 149"/>
                <a:gd name="T24" fmla="*/ 2 w 200"/>
                <a:gd name="T25" fmla="*/ 147 h 149"/>
                <a:gd name="T26" fmla="*/ 8 w 200"/>
                <a:gd name="T27" fmla="*/ 149 h 149"/>
                <a:gd name="T28" fmla="*/ 53 w 200"/>
                <a:gd name="T29" fmla="*/ 145 h 149"/>
                <a:gd name="T30" fmla="*/ 99 w 200"/>
                <a:gd name="T31" fmla="*/ 149 h 149"/>
                <a:gd name="T32" fmla="*/ 99 w 200"/>
                <a:gd name="T33" fmla="*/ 149 h 149"/>
                <a:gd name="T34" fmla="*/ 100 w 200"/>
                <a:gd name="T35" fmla="*/ 149 h 149"/>
                <a:gd name="T36" fmla="*/ 100 w 200"/>
                <a:gd name="T37" fmla="*/ 149 h 149"/>
                <a:gd name="T38" fmla="*/ 101 w 200"/>
                <a:gd name="T39" fmla="*/ 149 h 149"/>
                <a:gd name="T40" fmla="*/ 101 w 200"/>
                <a:gd name="T41" fmla="*/ 149 h 149"/>
                <a:gd name="T42" fmla="*/ 146 w 200"/>
                <a:gd name="T43" fmla="*/ 145 h 149"/>
                <a:gd name="T44" fmla="*/ 192 w 200"/>
                <a:gd name="T45" fmla="*/ 149 h 149"/>
                <a:gd name="T46" fmla="*/ 193 w 200"/>
                <a:gd name="T47" fmla="*/ 149 h 149"/>
                <a:gd name="T48" fmla="*/ 197 w 200"/>
                <a:gd name="T49" fmla="*/ 147 h 149"/>
                <a:gd name="T50" fmla="*/ 200 w 200"/>
                <a:gd name="T51" fmla="*/ 142 h 149"/>
                <a:gd name="T52" fmla="*/ 200 w 200"/>
                <a:gd name="T53" fmla="*/ 20 h 149"/>
                <a:gd name="T54" fmla="*/ 177 w 200"/>
                <a:gd name="T55" fmla="*/ 3 h 149"/>
                <a:gd name="T56" fmla="*/ 93 w 200"/>
                <a:gd name="T57" fmla="*/ 134 h 149"/>
                <a:gd name="T58" fmla="*/ 53 w 200"/>
                <a:gd name="T59" fmla="*/ 131 h 149"/>
                <a:gd name="T60" fmla="*/ 14 w 200"/>
                <a:gd name="T61" fmla="*/ 134 h 149"/>
                <a:gd name="T62" fmla="*/ 14 w 200"/>
                <a:gd name="T63" fmla="*/ 21 h 149"/>
                <a:gd name="T64" fmla="*/ 53 w 200"/>
                <a:gd name="T65" fmla="*/ 14 h 149"/>
                <a:gd name="T66" fmla="*/ 93 w 200"/>
                <a:gd name="T67" fmla="*/ 21 h 149"/>
                <a:gd name="T68" fmla="*/ 93 w 200"/>
                <a:gd name="T69" fmla="*/ 134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00" h="149">
                  <a:moveTo>
                    <a:pt x="177" y="3"/>
                  </a:moveTo>
                  <a:cubicBezTo>
                    <a:pt x="177" y="17"/>
                    <a:pt x="177" y="17"/>
                    <a:pt x="177" y="17"/>
                  </a:cubicBezTo>
                  <a:cubicBezTo>
                    <a:pt x="181" y="18"/>
                    <a:pt x="185" y="20"/>
                    <a:pt x="186" y="21"/>
                  </a:cubicBezTo>
                  <a:cubicBezTo>
                    <a:pt x="186" y="134"/>
                    <a:pt x="186" y="134"/>
                    <a:pt x="186" y="134"/>
                  </a:cubicBezTo>
                  <a:cubicBezTo>
                    <a:pt x="161" y="130"/>
                    <a:pt x="131" y="130"/>
                    <a:pt x="107" y="134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8" y="20"/>
                    <a:pt x="111" y="18"/>
                    <a:pt x="117" y="17"/>
                  </a:cubicBezTo>
                  <a:cubicBezTo>
                    <a:pt x="117" y="3"/>
                    <a:pt x="117" y="3"/>
                    <a:pt x="117" y="3"/>
                  </a:cubicBezTo>
                  <a:cubicBezTo>
                    <a:pt x="110" y="4"/>
                    <a:pt x="104" y="6"/>
                    <a:pt x="100" y="9"/>
                  </a:cubicBezTo>
                  <a:cubicBezTo>
                    <a:pt x="90" y="2"/>
                    <a:pt x="70" y="0"/>
                    <a:pt x="53" y="0"/>
                  </a:cubicBezTo>
                  <a:cubicBezTo>
                    <a:pt x="29" y="0"/>
                    <a:pt x="0" y="5"/>
                    <a:pt x="0" y="2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0" y="144"/>
                    <a:pt x="1" y="146"/>
                    <a:pt x="2" y="147"/>
                  </a:cubicBezTo>
                  <a:cubicBezTo>
                    <a:pt x="4" y="148"/>
                    <a:pt x="6" y="149"/>
                    <a:pt x="8" y="149"/>
                  </a:cubicBezTo>
                  <a:cubicBezTo>
                    <a:pt x="22" y="146"/>
                    <a:pt x="37" y="145"/>
                    <a:pt x="53" y="145"/>
                  </a:cubicBezTo>
                  <a:cubicBezTo>
                    <a:pt x="69" y="145"/>
                    <a:pt x="85" y="146"/>
                    <a:pt x="99" y="149"/>
                  </a:cubicBezTo>
                  <a:cubicBezTo>
                    <a:pt x="99" y="149"/>
                    <a:pt x="99" y="149"/>
                    <a:pt x="99" y="149"/>
                  </a:cubicBezTo>
                  <a:cubicBezTo>
                    <a:pt x="99" y="149"/>
                    <a:pt x="99" y="149"/>
                    <a:pt x="100" y="149"/>
                  </a:cubicBezTo>
                  <a:cubicBezTo>
                    <a:pt x="100" y="149"/>
                    <a:pt x="100" y="149"/>
                    <a:pt x="100" y="149"/>
                  </a:cubicBezTo>
                  <a:cubicBezTo>
                    <a:pt x="100" y="149"/>
                    <a:pt x="100" y="149"/>
                    <a:pt x="101" y="149"/>
                  </a:cubicBezTo>
                  <a:cubicBezTo>
                    <a:pt x="101" y="149"/>
                    <a:pt x="101" y="149"/>
                    <a:pt x="101" y="149"/>
                  </a:cubicBezTo>
                  <a:cubicBezTo>
                    <a:pt x="115" y="146"/>
                    <a:pt x="130" y="145"/>
                    <a:pt x="146" y="145"/>
                  </a:cubicBezTo>
                  <a:cubicBezTo>
                    <a:pt x="162" y="145"/>
                    <a:pt x="178" y="146"/>
                    <a:pt x="192" y="149"/>
                  </a:cubicBezTo>
                  <a:cubicBezTo>
                    <a:pt x="192" y="149"/>
                    <a:pt x="192" y="149"/>
                    <a:pt x="193" y="149"/>
                  </a:cubicBezTo>
                  <a:cubicBezTo>
                    <a:pt x="194" y="149"/>
                    <a:pt x="196" y="148"/>
                    <a:pt x="197" y="147"/>
                  </a:cubicBezTo>
                  <a:cubicBezTo>
                    <a:pt x="199" y="146"/>
                    <a:pt x="200" y="144"/>
                    <a:pt x="200" y="142"/>
                  </a:cubicBezTo>
                  <a:cubicBezTo>
                    <a:pt x="200" y="20"/>
                    <a:pt x="200" y="20"/>
                    <a:pt x="200" y="20"/>
                  </a:cubicBezTo>
                  <a:cubicBezTo>
                    <a:pt x="200" y="11"/>
                    <a:pt x="190" y="6"/>
                    <a:pt x="177" y="3"/>
                  </a:cubicBezTo>
                  <a:close/>
                  <a:moveTo>
                    <a:pt x="93" y="134"/>
                  </a:moveTo>
                  <a:cubicBezTo>
                    <a:pt x="80" y="132"/>
                    <a:pt x="67" y="131"/>
                    <a:pt x="53" y="131"/>
                  </a:cubicBezTo>
                  <a:cubicBezTo>
                    <a:pt x="40" y="131"/>
                    <a:pt x="26" y="132"/>
                    <a:pt x="14" y="134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18"/>
                    <a:pt x="30" y="14"/>
                    <a:pt x="53" y="14"/>
                  </a:cubicBezTo>
                  <a:cubicBezTo>
                    <a:pt x="76" y="14"/>
                    <a:pt x="90" y="18"/>
                    <a:pt x="93" y="21"/>
                  </a:cubicBezTo>
                  <a:lnTo>
                    <a:pt x="93" y="134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64" name="椭圆 21"/>
          <p:cNvSpPr>
            <a:spLocks noChangeArrowheads="1"/>
          </p:cNvSpPr>
          <p:nvPr/>
        </p:nvSpPr>
        <p:spPr bwMode="auto">
          <a:xfrm>
            <a:off x="5647172" y="1987712"/>
            <a:ext cx="749673" cy="751322"/>
          </a:xfrm>
          <a:prstGeom prst="ellipse">
            <a:avLst/>
          </a:prstGeom>
          <a:solidFill>
            <a:srgbClr val="A41C34"/>
          </a:solidFill>
          <a:ln w="38100">
            <a:solidFill>
              <a:srgbClr val="E1DEC9"/>
            </a:solidFill>
            <a:miter lim="800000"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9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grpSp>
        <p:nvGrpSpPr>
          <p:cNvPr id="65" name="Group 4"/>
          <p:cNvGrpSpPr>
            <a:grpSpLocks noChangeAspect="1"/>
          </p:cNvGrpSpPr>
          <p:nvPr/>
        </p:nvGrpSpPr>
        <p:grpSpPr bwMode="auto">
          <a:xfrm>
            <a:off x="5811990" y="2106944"/>
            <a:ext cx="413655" cy="502136"/>
            <a:chOff x="2694" y="1931"/>
            <a:chExt cx="374" cy="454"/>
          </a:xfrm>
          <a:solidFill>
            <a:schemeClr val="bg1"/>
          </a:solidFill>
        </p:grpSpPr>
        <p:sp>
          <p:nvSpPr>
            <p:cNvPr id="66" name="Freeform 5"/>
            <p:cNvSpPr>
              <a:spLocks noEditPoints="1"/>
            </p:cNvSpPr>
            <p:nvPr/>
          </p:nvSpPr>
          <p:spPr bwMode="auto">
            <a:xfrm>
              <a:off x="2694" y="1931"/>
              <a:ext cx="374" cy="454"/>
            </a:xfrm>
            <a:custGeom>
              <a:avLst/>
              <a:gdLst>
                <a:gd name="T0" fmla="*/ 127 w 155"/>
                <a:gd name="T1" fmla="*/ 7 h 189"/>
                <a:gd name="T2" fmla="*/ 124 w 155"/>
                <a:gd name="T3" fmla="*/ 0 h 189"/>
                <a:gd name="T4" fmla="*/ 122 w 155"/>
                <a:gd name="T5" fmla="*/ 7 h 189"/>
                <a:gd name="T6" fmla="*/ 96 w 155"/>
                <a:gd name="T7" fmla="*/ 3 h 189"/>
                <a:gd name="T8" fmla="*/ 90 w 155"/>
                <a:gd name="T9" fmla="*/ 3 h 189"/>
                <a:gd name="T10" fmla="*/ 64 w 155"/>
                <a:gd name="T11" fmla="*/ 7 h 189"/>
                <a:gd name="T12" fmla="*/ 62 w 155"/>
                <a:gd name="T13" fmla="*/ 0 h 189"/>
                <a:gd name="T14" fmla="*/ 59 w 155"/>
                <a:gd name="T15" fmla="*/ 7 h 189"/>
                <a:gd name="T16" fmla="*/ 33 w 155"/>
                <a:gd name="T17" fmla="*/ 3 h 189"/>
                <a:gd name="T18" fmla="*/ 27 w 155"/>
                <a:gd name="T19" fmla="*/ 3 h 189"/>
                <a:gd name="T20" fmla="*/ 7 w 155"/>
                <a:gd name="T21" fmla="*/ 7 h 189"/>
                <a:gd name="T22" fmla="*/ 0 w 155"/>
                <a:gd name="T23" fmla="*/ 182 h 189"/>
                <a:gd name="T24" fmla="*/ 148 w 155"/>
                <a:gd name="T25" fmla="*/ 189 h 189"/>
                <a:gd name="T26" fmla="*/ 155 w 155"/>
                <a:gd name="T27" fmla="*/ 13 h 189"/>
                <a:gd name="T28" fmla="*/ 124 w 155"/>
                <a:gd name="T29" fmla="*/ 40 h 189"/>
                <a:gd name="T30" fmla="*/ 127 w 155"/>
                <a:gd name="T31" fmla="*/ 31 h 189"/>
                <a:gd name="T32" fmla="*/ 124 w 155"/>
                <a:gd name="T33" fmla="*/ 44 h 189"/>
                <a:gd name="T34" fmla="*/ 122 w 155"/>
                <a:gd name="T35" fmla="*/ 31 h 189"/>
                <a:gd name="T36" fmla="*/ 124 w 155"/>
                <a:gd name="T37" fmla="*/ 40 h 189"/>
                <a:gd name="T38" fmla="*/ 96 w 155"/>
                <a:gd name="T39" fmla="*/ 37 h 189"/>
                <a:gd name="T40" fmla="*/ 100 w 155"/>
                <a:gd name="T41" fmla="*/ 37 h 189"/>
                <a:gd name="T42" fmla="*/ 86 w 155"/>
                <a:gd name="T43" fmla="*/ 37 h 189"/>
                <a:gd name="T44" fmla="*/ 90 w 155"/>
                <a:gd name="T45" fmla="*/ 37 h 189"/>
                <a:gd name="T46" fmla="*/ 62 w 155"/>
                <a:gd name="T47" fmla="*/ 40 h 189"/>
                <a:gd name="T48" fmla="*/ 64 w 155"/>
                <a:gd name="T49" fmla="*/ 31 h 189"/>
                <a:gd name="T50" fmla="*/ 62 w 155"/>
                <a:gd name="T51" fmla="*/ 44 h 189"/>
                <a:gd name="T52" fmla="*/ 59 w 155"/>
                <a:gd name="T53" fmla="*/ 31 h 189"/>
                <a:gd name="T54" fmla="*/ 62 w 155"/>
                <a:gd name="T55" fmla="*/ 40 h 189"/>
                <a:gd name="T56" fmla="*/ 33 w 155"/>
                <a:gd name="T57" fmla="*/ 37 h 189"/>
                <a:gd name="T58" fmla="*/ 37 w 155"/>
                <a:gd name="T59" fmla="*/ 37 h 189"/>
                <a:gd name="T60" fmla="*/ 23 w 155"/>
                <a:gd name="T61" fmla="*/ 37 h 189"/>
                <a:gd name="T62" fmla="*/ 27 w 155"/>
                <a:gd name="T63" fmla="*/ 37 h 189"/>
                <a:gd name="T64" fmla="*/ 141 w 155"/>
                <a:gd name="T65" fmla="*/ 175 h 189"/>
                <a:gd name="T66" fmla="*/ 14 w 155"/>
                <a:gd name="T67" fmla="*/ 20 h 189"/>
                <a:gd name="T68" fmla="*/ 27 w 155"/>
                <a:gd name="T69" fmla="*/ 25 h 189"/>
                <a:gd name="T70" fmla="*/ 30 w 155"/>
                <a:gd name="T71" fmla="*/ 50 h 189"/>
                <a:gd name="T72" fmla="*/ 33 w 155"/>
                <a:gd name="T73" fmla="*/ 25 h 189"/>
                <a:gd name="T74" fmla="*/ 59 w 155"/>
                <a:gd name="T75" fmla="*/ 20 h 189"/>
                <a:gd name="T76" fmla="*/ 49 w 155"/>
                <a:gd name="T77" fmla="*/ 37 h 189"/>
                <a:gd name="T78" fmla="*/ 74 w 155"/>
                <a:gd name="T79" fmla="*/ 37 h 189"/>
                <a:gd name="T80" fmla="*/ 64 w 155"/>
                <a:gd name="T81" fmla="*/ 20 h 189"/>
                <a:gd name="T82" fmla="*/ 90 w 155"/>
                <a:gd name="T83" fmla="*/ 25 h 189"/>
                <a:gd name="T84" fmla="*/ 93 w 155"/>
                <a:gd name="T85" fmla="*/ 50 h 189"/>
                <a:gd name="T86" fmla="*/ 96 w 155"/>
                <a:gd name="T87" fmla="*/ 25 h 189"/>
                <a:gd name="T88" fmla="*/ 122 w 155"/>
                <a:gd name="T89" fmla="*/ 20 h 189"/>
                <a:gd name="T90" fmla="*/ 112 w 155"/>
                <a:gd name="T91" fmla="*/ 37 h 189"/>
                <a:gd name="T92" fmla="*/ 137 w 155"/>
                <a:gd name="T93" fmla="*/ 37 h 189"/>
                <a:gd name="T94" fmla="*/ 127 w 155"/>
                <a:gd name="T95" fmla="*/ 20 h 189"/>
                <a:gd name="T96" fmla="*/ 141 w 155"/>
                <a:gd name="T97" fmla="*/ 175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55" h="189">
                  <a:moveTo>
                    <a:pt x="148" y="7"/>
                  </a:moveTo>
                  <a:cubicBezTo>
                    <a:pt x="127" y="7"/>
                    <a:pt x="127" y="7"/>
                    <a:pt x="127" y="7"/>
                  </a:cubicBezTo>
                  <a:cubicBezTo>
                    <a:pt x="127" y="3"/>
                    <a:pt x="127" y="3"/>
                    <a:pt x="127" y="3"/>
                  </a:cubicBezTo>
                  <a:cubicBezTo>
                    <a:pt x="127" y="1"/>
                    <a:pt x="126" y="0"/>
                    <a:pt x="124" y="0"/>
                  </a:cubicBezTo>
                  <a:cubicBezTo>
                    <a:pt x="123" y="0"/>
                    <a:pt x="122" y="1"/>
                    <a:pt x="122" y="3"/>
                  </a:cubicBezTo>
                  <a:cubicBezTo>
                    <a:pt x="122" y="7"/>
                    <a:pt x="122" y="7"/>
                    <a:pt x="122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3"/>
                    <a:pt x="96" y="3"/>
                    <a:pt x="96" y="3"/>
                  </a:cubicBezTo>
                  <a:cubicBezTo>
                    <a:pt x="96" y="1"/>
                    <a:pt x="94" y="0"/>
                    <a:pt x="93" y="0"/>
                  </a:cubicBezTo>
                  <a:cubicBezTo>
                    <a:pt x="91" y="0"/>
                    <a:pt x="90" y="1"/>
                    <a:pt x="90" y="3"/>
                  </a:cubicBezTo>
                  <a:cubicBezTo>
                    <a:pt x="90" y="7"/>
                    <a:pt x="90" y="7"/>
                    <a:pt x="90" y="7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4" y="3"/>
                    <a:pt x="64" y="3"/>
                    <a:pt x="64" y="3"/>
                  </a:cubicBezTo>
                  <a:cubicBezTo>
                    <a:pt x="64" y="1"/>
                    <a:pt x="63" y="0"/>
                    <a:pt x="62" y="0"/>
                  </a:cubicBezTo>
                  <a:cubicBezTo>
                    <a:pt x="60" y="0"/>
                    <a:pt x="59" y="1"/>
                    <a:pt x="59" y="3"/>
                  </a:cubicBezTo>
                  <a:cubicBezTo>
                    <a:pt x="59" y="7"/>
                    <a:pt x="59" y="7"/>
                    <a:pt x="59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1"/>
                    <a:pt x="32" y="0"/>
                    <a:pt x="30" y="0"/>
                  </a:cubicBezTo>
                  <a:cubicBezTo>
                    <a:pt x="29" y="0"/>
                    <a:pt x="27" y="1"/>
                    <a:pt x="27" y="3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3" y="7"/>
                    <a:pt x="0" y="10"/>
                    <a:pt x="0" y="13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6"/>
                    <a:pt x="3" y="189"/>
                    <a:pt x="7" y="189"/>
                  </a:cubicBezTo>
                  <a:cubicBezTo>
                    <a:pt x="148" y="189"/>
                    <a:pt x="148" y="189"/>
                    <a:pt x="148" y="189"/>
                  </a:cubicBezTo>
                  <a:cubicBezTo>
                    <a:pt x="152" y="189"/>
                    <a:pt x="155" y="186"/>
                    <a:pt x="155" y="182"/>
                  </a:cubicBezTo>
                  <a:cubicBezTo>
                    <a:pt x="155" y="13"/>
                    <a:pt x="155" y="13"/>
                    <a:pt x="155" y="13"/>
                  </a:cubicBezTo>
                  <a:cubicBezTo>
                    <a:pt x="155" y="10"/>
                    <a:pt x="152" y="7"/>
                    <a:pt x="148" y="7"/>
                  </a:cubicBezTo>
                  <a:close/>
                  <a:moveTo>
                    <a:pt x="124" y="40"/>
                  </a:moveTo>
                  <a:cubicBezTo>
                    <a:pt x="126" y="40"/>
                    <a:pt x="127" y="39"/>
                    <a:pt x="127" y="37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30" y="32"/>
                    <a:pt x="131" y="35"/>
                    <a:pt x="131" y="37"/>
                  </a:cubicBezTo>
                  <a:cubicBezTo>
                    <a:pt x="131" y="41"/>
                    <a:pt x="128" y="44"/>
                    <a:pt x="124" y="44"/>
                  </a:cubicBezTo>
                  <a:cubicBezTo>
                    <a:pt x="120" y="44"/>
                    <a:pt x="117" y="41"/>
                    <a:pt x="117" y="37"/>
                  </a:cubicBezTo>
                  <a:cubicBezTo>
                    <a:pt x="117" y="34"/>
                    <a:pt x="119" y="32"/>
                    <a:pt x="122" y="31"/>
                  </a:cubicBezTo>
                  <a:cubicBezTo>
                    <a:pt x="122" y="37"/>
                    <a:pt x="122" y="37"/>
                    <a:pt x="122" y="37"/>
                  </a:cubicBezTo>
                  <a:cubicBezTo>
                    <a:pt x="122" y="39"/>
                    <a:pt x="123" y="40"/>
                    <a:pt x="124" y="40"/>
                  </a:cubicBezTo>
                  <a:close/>
                  <a:moveTo>
                    <a:pt x="93" y="40"/>
                  </a:moveTo>
                  <a:cubicBezTo>
                    <a:pt x="94" y="40"/>
                    <a:pt x="96" y="39"/>
                    <a:pt x="96" y="37"/>
                  </a:cubicBezTo>
                  <a:cubicBezTo>
                    <a:pt x="96" y="31"/>
                    <a:pt x="96" y="31"/>
                    <a:pt x="96" y="31"/>
                  </a:cubicBezTo>
                  <a:cubicBezTo>
                    <a:pt x="98" y="32"/>
                    <a:pt x="100" y="35"/>
                    <a:pt x="100" y="37"/>
                  </a:cubicBezTo>
                  <a:cubicBezTo>
                    <a:pt x="100" y="41"/>
                    <a:pt x="97" y="44"/>
                    <a:pt x="93" y="44"/>
                  </a:cubicBezTo>
                  <a:cubicBezTo>
                    <a:pt x="89" y="44"/>
                    <a:pt x="86" y="41"/>
                    <a:pt x="86" y="37"/>
                  </a:cubicBezTo>
                  <a:cubicBezTo>
                    <a:pt x="86" y="34"/>
                    <a:pt x="88" y="32"/>
                    <a:pt x="90" y="31"/>
                  </a:cubicBezTo>
                  <a:cubicBezTo>
                    <a:pt x="90" y="37"/>
                    <a:pt x="90" y="37"/>
                    <a:pt x="90" y="37"/>
                  </a:cubicBezTo>
                  <a:cubicBezTo>
                    <a:pt x="90" y="39"/>
                    <a:pt x="91" y="40"/>
                    <a:pt x="93" y="40"/>
                  </a:cubicBezTo>
                  <a:close/>
                  <a:moveTo>
                    <a:pt x="62" y="40"/>
                  </a:moveTo>
                  <a:cubicBezTo>
                    <a:pt x="63" y="40"/>
                    <a:pt x="64" y="39"/>
                    <a:pt x="64" y="37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7" y="32"/>
                    <a:pt x="69" y="35"/>
                    <a:pt x="69" y="37"/>
                  </a:cubicBezTo>
                  <a:cubicBezTo>
                    <a:pt x="69" y="41"/>
                    <a:pt x="65" y="44"/>
                    <a:pt x="62" y="44"/>
                  </a:cubicBezTo>
                  <a:cubicBezTo>
                    <a:pt x="58" y="44"/>
                    <a:pt x="54" y="41"/>
                    <a:pt x="54" y="37"/>
                  </a:cubicBezTo>
                  <a:cubicBezTo>
                    <a:pt x="54" y="34"/>
                    <a:pt x="56" y="32"/>
                    <a:pt x="59" y="31"/>
                  </a:cubicBezTo>
                  <a:cubicBezTo>
                    <a:pt x="59" y="37"/>
                    <a:pt x="59" y="37"/>
                    <a:pt x="59" y="37"/>
                  </a:cubicBezTo>
                  <a:cubicBezTo>
                    <a:pt x="59" y="39"/>
                    <a:pt x="60" y="40"/>
                    <a:pt x="62" y="40"/>
                  </a:cubicBezTo>
                  <a:close/>
                  <a:moveTo>
                    <a:pt x="30" y="40"/>
                  </a:moveTo>
                  <a:cubicBezTo>
                    <a:pt x="32" y="40"/>
                    <a:pt x="33" y="39"/>
                    <a:pt x="33" y="37"/>
                  </a:cubicBezTo>
                  <a:cubicBezTo>
                    <a:pt x="33" y="31"/>
                    <a:pt x="33" y="31"/>
                    <a:pt x="33" y="31"/>
                  </a:cubicBezTo>
                  <a:cubicBezTo>
                    <a:pt x="35" y="32"/>
                    <a:pt x="37" y="35"/>
                    <a:pt x="37" y="37"/>
                  </a:cubicBezTo>
                  <a:cubicBezTo>
                    <a:pt x="37" y="41"/>
                    <a:pt x="34" y="44"/>
                    <a:pt x="30" y="44"/>
                  </a:cubicBezTo>
                  <a:cubicBezTo>
                    <a:pt x="26" y="44"/>
                    <a:pt x="23" y="41"/>
                    <a:pt x="23" y="37"/>
                  </a:cubicBezTo>
                  <a:cubicBezTo>
                    <a:pt x="23" y="34"/>
                    <a:pt x="25" y="32"/>
                    <a:pt x="27" y="3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7" y="39"/>
                    <a:pt x="29" y="40"/>
                    <a:pt x="30" y="40"/>
                  </a:cubicBezTo>
                  <a:close/>
                  <a:moveTo>
                    <a:pt x="141" y="175"/>
                  </a:moveTo>
                  <a:cubicBezTo>
                    <a:pt x="14" y="175"/>
                    <a:pt x="14" y="175"/>
                    <a:pt x="14" y="175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5"/>
                    <a:pt x="27" y="25"/>
                    <a:pt x="27" y="25"/>
                  </a:cubicBezTo>
                  <a:cubicBezTo>
                    <a:pt x="22" y="26"/>
                    <a:pt x="18" y="31"/>
                    <a:pt x="18" y="37"/>
                  </a:cubicBezTo>
                  <a:cubicBezTo>
                    <a:pt x="18" y="44"/>
                    <a:pt x="23" y="50"/>
                    <a:pt x="30" y="50"/>
                  </a:cubicBezTo>
                  <a:cubicBezTo>
                    <a:pt x="37" y="50"/>
                    <a:pt x="43" y="44"/>
                    <a:pt x="43" y="37"/>
                  </a:cubicBezTo>
                  <a:cubicBezTo>
                    <a:pt x="43" y="31"/>
                    <a:pt x="39" y="26"/>
                    <a:pt x="33" y="25"/>
                  </a:cubicBezTo>
                  <a:cubicBezTo>
                    <a:pt x="33" y="20"/>
                    <a:pt x="33" y="20"/>
                    <a:pt x="33" y="20"/>
                  </a:cubicBezTo>
                  <a:cubicBezTo>
                    <a:pt x="59" y="20"/>
                    <a:pt x="59" y="20"/>
                    <a:pt x="59" y="20"/>
                  </a:cubicBezTo>
                  <a:cubicBezTo>
                    <a:pt x="59" y="25"/>
                    <a:pt x="59" y="25"/>
                    <a:pt x="59" y="25"/>
                  </a:cubicBezTo>
                  <a:cubicBezTo>
                    <a:pt x="53" y="26"/>
                    <a:pt x="49" y="31"/>
                    <a:pt x="49" y="37"/>
                  </a:cubicBezTo>
                  <a:cubicBezTo>
                    <a:pt x="49" y="44"/>
                    <a:pt x="55" y="50"/>
                    <a:pt x="62" y="50"/>
                  </a:cubicBezTo>
                  <a:cubicBezTo>
                    <a:pt x="68" y="50"/>
                    <a:pt x="74" y="44"/>
                    <a:pt x="74" y="37"/>
                  </a:cubicBezTo>
                  <a:cubicBezTo>
                    <a:pt x="74" y="31"/>
                    <a:pt x="70" y="26"/>
                    <a:pt x="64" y="25"/>
                  </a:cubicBezTo>
                  <a:cubicBezTo>
                    <a:pt x="64" y="20"/>
                    <a:pt x="64" y="20"/>
                    <a:pt x="64" y="20"/>
                  </a:cubicBezTo>
                  <a:cubicBezTo>
                    <a:pt x="90" y="20"/>
                    <a:pt x="90" y="20"/>
                    <a:pt x="90" y="20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85" y="26"/>
                    <a:pt x="80" y="31"/>
                    <a:pt x="80" y="37"/>
                  </a:cubicBezTo>
                  <a:cubicBezTo>
                    <a:pt x="80" y="44"/>
                    <a:pt x="86" y="50"/>
                    <a:pt x="93" y="50"/>
                  </a:cubicBezTo>
                  <a:cubicBezTo>
                    <a:pt x="100" y="50"/>
                    <a:pt x="105" y="44"/>
                    <a:pt x="105" y="37"/>
                  </a:cubicBezTo>
                  <a:cubicBezTo>
                    <a:pt x="105" y="31"/>
                    <a:pt x="101" y="26"/>
                    <a:pt x="96" y="25"/>
                  </a:cubicBezTo>
                  <a:cubicBezTo>
                    <a:pt x="96" y="20"/>
                    <a:pt x="96" y="20"/>
                    <a:pt x="96" y="20"/>
                  </a:cubicBezTo>
                  <a:cubicBezTo>
                    <a:pt x="122" y="20"/>
                    <a:pt x="122" y="20"/>
                    <a:pt x="122" y="20"/>
                  </a:cubicBezTo>
                  <a:cubicBezTo>
                    <a:pt x="122" y="25"/>
                    <a:pt x="122" y="25"/>
                    <a:pt x="122" y="25"/>
                  </a:cubicBezTo>
                  <a:cubicBezTo>
                    <a:pt x="116" y="26"/>
                    <a:pt x="112" y="31"/>
                    <a:pt x="112" y="37"/>
                  </a:cubicBezTo>
                  <a:cubicBezTo>
                    <a:pt x="112" y="44"/>
                    <a:pt x="117" y="50"/>
                    <a:pt x="124" y="50"/>
                  </a:cubicBezTo>
                  <a:cubicBezTo>
                    <a:pt x="131" y="50"/>
                    <a:pt x="137" y="44"/>
                    <a:pt x="137" y="37"/>
                  </a:cubicBezTo>
                  <a:cubicBezTo>
                    <a:pt x="137" y="31"/>
                    <a:pt x="133" y="26"/>
                    <a:pt x="127" y="25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41" y="20"/>
                    <a:pt x="141" y="20"/>
                    <a:pt x="141" y="20"/>
                  </a:cubicBezTo>
                  <a:lnTo>
                    <a:pt x="141" y="1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67" name="Freeform 6"/>
            <p:cNvSpPr/>
            <p:nvPr/>
          </p:nvSpPr>
          <p:spPr bwMode="auto">
            <a:xfrm>
              <a:off x="2820" y="2272"/>
              <a:ext cx="181" cy="12"/>
            </a:xfrm>
            <a:custGeom>
              <a:avLst/>
              <a:gdLst>
                <a:gd name="T0" fmla="*/ 73 w 75"/>
                <a:gd name="T1" fmla="*/ 0 h 5"/>
                <a:gd name="T2" fmla="*/ 2 w 75"/>
                <a:gd name="T3" fmla="*/ 0 h 5"/>
                <a:gd name="T4" fmla="*/ 0 w 75"/>
                <a:gd name="T5" fmla="*/ 3 h 5"/>
                <a:gd name="T6" fmla="*/ 2 w 75"/>
                <a:gd name="T7" fmla="*/ 5 h 5"/>
                <a:gd name="T8" fmla="*/ 73 w 75"/>
                <a:gd name="T9" fmla="*/ 5 h 5"/>
                <a:gd name="T10" fmla="*/ 75 w 75"/>
                <a:gd name="T11" fmla="*/ 3 h 5"/>
                <a:gd name="T12" fmla="*/ 73 w 75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5" h="5">
                  <a:moveTo>
                    <a:pt x="73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5"/>
                    <a:pt x="2" y="5"/>
                  </a:cubicBezTo>
                  <a:cubicBezTo>
                    <a:pt x="73" y="5"/>
                    <a:pt x="73" y="5"/>
                    <a:pt x="73" y="5"/>
                  </a:cubicBezTo>
                  <a:cubicBezTo>
                    <a:pt x="74" y="5"/>
                    <a:pt x="75" y="4"/>
                    <a:pt x="75" y="3"/>
                  </a:cubicBezTo>
                  <a:cubicBezTo>
                    <a:pt x="75" y="1"/>
                    <a:pt x="74" y="0"/>
                    <a:pt x="7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68" name="Freeform 7"/>
            <p:cNvSpPr/>
            <p:nvPr/>
          </p:nvSpPr>
          <p:spPr bwMode="auto">
            <a:xfrm>
              <a:off x="2820" y="2190"/>
              <a:ext cx="181" cy="14"/>
            </a:xfrm>
            <a:custGeom>
              <a:avLst/>
              <a:gdLst>
                <a:gd name="T0" fmla="*/ 73 w 75"/>
                <a:gd name="T1" fmla="*/ 0 h 6"/>
                <a:gd name="T2" fmla="*/ 2 w 75"/>
                <a:gd name="T3" fmla="*/ 0 h 6"/>
                <a:gd name="T4" fmla="*/ 0 w 75"/>
                <a:gd name="T5" fmla="*/ 3 h 6"/>
                <a:gd name="T6" fmla="*/ 2 w 75"/>
                <a:gd name="T7" fmla="*/ 6 h 6"/>
                <a:gd name="T8" fmla="*/ 73 w 75"/>
                <a:gd name="T9" fmla="*/ 6 h 6"/>
                <a:gd name="T10" fmla="*/ 75 w 75"/>
                <a:gd name="T11" fmla="*/ 3 h 6"/>
                <a:gd name="T12" fmla="*/ 73 w 75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5" h="6">
                  <a:moveTo>
                    <a:pt x="73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2"/>
                    <a:pt x="0" y="3"/>
                  </a:cubicBezTo>
                  <a:cubicBezTo>
                    <a:pt x="0" y="5"/>
                    <a:pt x="1" y="6"/>
                    <a:pt x="2" y="6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4" y="6"/>
                    <a:pt x="75" y="5"/>
                    <a:pt x="75" y="3"/>
                  </a:cubicBezTo>
                  <a:cubicBezTo>
                    <a:pt x="75" y="2"/>
                    <a:pt x="74" y="0"/>
                    <a:pt x="7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69" name="Freeform 8"/>
            <p:cNvSpPr/>
            <p:nvPr/>
          </p:nvSpPr>
          <p:spPr bwMode="auto">
            <a:xfrm>
              <a:off x="2820" y="2111"/>
              <a:ext cx="181" cy="12"/>
            </a:xfrm>
            <a:custGeom>
              <a:avLst/>
              <a:gdLst>
                <a:gd name="T0" fmla="*/ 73 w 75"/>
                <a:gd name="T1" fmla="*/ 0 h 5"/>
                <a:gd name="T2" fmla="*/ 2 w 75"/>
                <a:gd name="T3" fmla="*/ 0 h 5"/>
                <a:gd name="T4" fmla="*/ 0 w 75"/>
                <a:gd name="T5" fmla="*/ 3 h 5"/>
                <a:gd name="T6" fmla="*/ 2 w 75"/>
                <a:gd name="T7" fmla="*/ 5 h 5"/>
                <a:gd name="T8" fmla="*/ 73 w 75"/>
                <a:gd name="T9" fmla="*/ 5 h 5"/>
                <a:gd name="T10" fmla="*/ 75 w 75"/>
                <a:gd name="T11" fmla="*/ 3 h 5"/>
                <a:gd name="T12" fmla="*/ 73 w 75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5" h="5">
                  <a:moveTo>
                    <a:pt x="73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5"/>
                    <a:pt x="2" y="5"/>
                  </a:cubicBezTo>
                  <a:cubicBezTo>
                    <a:pt x="73" y="5"/>
                    <a:pt x="73" y="5"/>
                    <a:pt x="73" y="5"/>
                  </a:cubicBezTo>
                  <a:cubicBezTo>
                    <a:pt x="74" y="5"/>
                    <a:pt x="75" y="4"/>
                    <a:pt x="75" y="3"/>
                  </a:cubicBezTo>
                  <a:cubicBezTo>
                    <a:pt x="75" y="1"/>
                    <a:pt x="74" y="0"/>
                    <a:pt x="7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70" name="Freeform 9"/>
            <p:cNvSpPr/>
            <p:nvPr/>
          </p:nvSpPr>
          <p:spPr bwMode="auto">
            <a:xfrm>
              <a:off x="2755" y="2096"/>
              <a:ext cx="41" cy="41"/>
            </a:xfrm>
            <a:custGeom>
              <a:avLst/>
              <a:gdLst>
                <a:gd name="T0" fmla="*/ 15 w 17"/>
                <a:gd name="T1" fmla="*/ 0 h 17"/>
                <a:gd name="T2" fmla="*/ 3 w 17"/>
                <a:gd name="T3" fmla="*/ 0 h 17"/>
                <a:gd name="T4" fmla="*/ 0 w 17"/>
                <a:gd name="T5" fmla="*/ 3 h 17"/>
                <a:gd name="T6" fmla="*/ 0 w 17"/>
                <a:gd name="T7" fmla="*/ 15 h 17"/>
                <a:gd name="T8" fmla="*/ 3 w 17"/>
                <a:gd name="T9" fmla="*/ 17 h 17"/>
                <a:gd name="T10" fmla="*/ 15 w 17"/>
                <a:gd name="T11" fmla="*/ 17 h 17"/>
                <a:gd name="T12" fmla="*/ 17 w 17"/>
                <a:gd name="T13" fmla="*/ 15 h 17"/>
                <a:gd name="T14" fmla="*/ 17 w 17"/>
                <a:gd name="T15" fmla="*/ 3 h 17"/>
                <a:gd name="T16" fmla="*/ 15 w 17"/>
                <a:gd name="T1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" h="17">
                  <a:moveTo>
                    <a:pt x="15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6"/>
                    <a:pt x="1" y="17"/>
                    <a:pt x="3" y="17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6" y="17"/>
                    <a:pt x="17" y="16"/>
                    <a:pt x="17" y="15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71" name="Freeform 10"/>
            <p:cNvSpPr/>
            <p:nvPr/>
          </p:nvSpPr>
          <p:spPr bwMode="auto">
            <a:xfrm>
              <a:off x="2755" y="2176"/>
              <a:ext cx="41" cy="43"/>
            </a:xfrm>
            <a:custGeom>
              <a:avLst/>
              <a:gdLst>
                <a:gd name="T0" fmla="*/ 15 w 17"/>
                <a:gd name="T1" fmla="*/ 0 h 18"/>
                <a:gd name="T2" fmla="*/ 3 w 17"/>
                <a:gd name="T3" fmla="*/ 0 h 18"/>
                <a:gd name="T4" fmla="*/ 0 w 17"/>
                <a:gd name="T5" fmla="*/ 3 h 18"/>
                <a:gd name="T6" fmla="*/ 0 w 17"/>
                <a:gd name="T7" fmla="*/ 15 h 18"/>
                <a:gd name="T8" fmla="*/ 3 w 17"/>
                <a:gd name="T9" fmla="*/ 18 h 18"/>
                <a:gd name="T10" fmla="*/ 15 w 17"/>
                <a:gd name="T11" fmla="*/ 18 h 18"/>
                <a:gd name="T12" fmla="*/ 17 w 17"/>
                <a:gd name="T13" fmla="*/ 15 h 18"/>
                <a:gd name="T14" fmla="*/ 17 w 17"/>
                <a:gd name="T15" fmla="*/ 3 h 18"/>
                <a:gd name="T16" fmla="*/ 15 w 17"/>
                <a:gd name="T1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" h="18">
                  <a:moveTo>
                    <a:pt x="15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2"/>
                    <a:pt x="0" y="3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7"/>
                    <a:pt x="1" y="18"/>
                    <a:pt x="3" y="18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8"/>
                    <a:pt x="17" y="17"/>
                    <a:pt x="17" y="15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7" y="2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72" name="Freeform 11"/>
            <p:cNvSpPr/>
            <p:nvPr/>
          </p:nvSpPr>
          <p:spPr bwMode="auto">
            <a:xfrm>
              <a:off x="2755" y="2257"/>
              <a:ext cx="41" cy="41"/>
            </a:xfrm>
            <a:custGeom>
              <a:avLst/>
              <a:gdLst>
                <a:gd name="T0" fmla="*/ 15 w 17"/>
                <a:gd name="T1" fmla="*/ 0 h 17"/>
                <a:gd name="T2" fmla="*/ 3 w 17"/>
                <a:gd name="T3" fmla="*/ 0 h 17"/>
                <a:gd name="T4" fmla="*/ 0 w 17"/>
                <a:gd name="T5" fmla="*/ 3 h 17"/>
                <a:gd name="T6" fmla="*/ 0 w 17"/>
                <a:gd name="T7" fmla="*/ 15 h 17"/>
                <a:gd name="T8" fmla="*/ 3 w 17"/>
                <a:gd name="T9" fmla="*/ 17 h 17"/>
                <a:gd name="T10" fmla="*/ 15 w 17"/>
                <a:gd name="T11" fmla="*/ 17 h 17"/>
                <a:gd name="T12" fmla="*/ 17 w 17"/>
                <a:gd name="T13" fmla="*/ 15 h 17"/>
                <a:gd name="T14" fmla="*/ 17 w 17"/>
                <a:gd name="T15" fmla="*/ 3 h 17"/>
                <a:gd name="T16" fmla="*/ 15 w 17"/>
                <a:gd name="T1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" h="17">
                  <a:moveTo>
                    <a:pt x="15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6"/>
                    <a:pt x="1" y="17"/>
                    <a:pt x="3" y="17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6" y="17"/>
                    <a:pt x="17" y="16"/>
                    <a:pt x="17" y="15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4135" y="3682365"/>
            <a:ext cx="2775585" cy="806450"/>
            <a:chOff x="101" y="5799"/>
            <a:chExt cx="4371" cy="1270"/>
          </a:xfrm>
        </p:grpSpPr>
        <p:sp>
          <p:nvSpPr>
            <p:cNvPr id="44" name="矩形 30"/>
            <p:cNvSpPr>
              <a:spLocks noChangeArrowheads="1"/>
            </p:cNvSpPr>
            <p:nvPr/>
          </p:nvSpPr>
          <p:spPr bwMode="auto">
            <a:xfrm>
              <a:off x="101" y="5799"/>
              <a:ext cx="3549" cy="5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38" tIns="45719" rIns="91438" bIns="45719">
              <a:spAutoFit/>
            </a:bodyPr>
            <a:lstStyle>
              <a:lvl1pPr>
                <a:spcBef>
                  <a:spcPct val="20000"/>
                </a:spcBef>
                <a:buFont typeface="Arial" panose="020B060402020209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9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9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9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Arial" panose="020B0604020202090204" pitchFamily="34" charset="0"/>
                <a:buNone/>
              </a:pPr>
              <a:r>
                <a:rPr lang="en-US" altLang="zh-CN" sz="1500" b="1" dirty="0">
                  <a:sym typeface="微软雅黑" panose="020B0503020204020204" pitchFamily="34" charset="-122"/>
                </a:rPr>
                <a:t>1 </a:t>
              </a:r>
              <a:r>
                <a:rPr lang="zh-CN" altLang="en-US" sz="1500" b="1" dirty="0">
                  <a:sym typeface="微软雅黑" panose="020B0503020204020204" pitchFamily="34" charset="-122"/>
                </a:rPr>
                <a:t>研究现状</a:t>
              </a:r>
              <a:endParaRPr lang="zh-CN" altLang="en-US" sz="875" dirty="0">
                <a:sym typeface="微软雅黑" panose="020B0503020204020204" pitchFamily="34" charset="-122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923" y="6295"/>
              <a:ext cx="3549" cy="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ct val="130000"/>
                </a:lnSpc>
                <a:buFont typeface="Arial" panose="020B0604020202090204" pitchFamily="34" charset="0"/>
                <a:buChar char="•"/>
              </a:pPr>
              <a:r>
                <a:rPr sz="1000" dirty="0" err="1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 charset="0"/>
                  <a:sym typeface="+mn-ea"/>
                </a:rPr>
                <a:t>OpenDigger标签管理现状与挑战</a:t>
              </a:r>
              <a:endParaRPr lang="zh-CN" altLang="en-US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endParaRPr>
            </a:p>
            <a:p>
              <a:pPr marL="171450" indent="-171450">
                <a:lnSpc>
                  <a:spcPct val="130000"/>
                </a:lnSpc>
                <a:buFont typeface="Arial" panose="020B0604020202090204" pitchFamily="34" charset="0"/>
                <a:buChar char="•"/>
              </a:pPr>
              <a:r>
                <a:rPr sz="1000" dirty="0" err="1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 charset="0"/>
                  <a:sym typeface="+mn-ea"/>
                </a:rPr>
                <a:t>GitHub仓库Topic生成研究现状</a:t>
              </a:r>
              <a:endParaRPr lang="zh-CN" altLang="en-US" sz="1000" dirty="0" err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485511" y="1840540"/>
            <a:ext cx="2689225" cy="795655"/>
            <a:chOff x="-276" y="5816"/>
            <a:chExt cx="4235" cy="1253"/>
          </a:xfrm>
        </p:grpSpPr>
        <p:sp>
          <p:nvSpPr>
            <p:cNvPr id="7" name="矩形 30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-276" y="5816"/>
              <a:ext cx="4235" cy="5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38" tIns="45719" rIns="91438" bIns="45719">
              <a:spAutoFit/>
            </a:bodyPr>
            <a:lstStyle>
              <a:lvl1pPr>
                <a:spcBef>
                  <a:spcPct val="20000"/>
                </a:spcBef>
                <a:buFont typeface="Arial" panose="020B060402020209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9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9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9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Arial" panose="020B0604020202090204" pitchFamily="34" charset="0"/>
                <a:buNone/>
              </a:pPr>
              <a:r>
                <a:rPr lang="en-US" altLang="zh-CN" sz="1500" b="1" dirty="0">
                  <a:sym typeface="微软雅黑" panose="020B0503020204020204" pitchFamily="34" charset="-122"/>
                </a:rPr>
                <a:t>2 </a:t>
              </a:r>
              <a:r>
                <a:rPr lang="zh-CN" altLang="en-US" sz="1500" b="1" dirty="0">
                  <a:sym typeface="微软雅黑" panose="020B0503020204020204" pitchFamily="34" charset="-122"/>
                </a:rPr>
                <a:t>研究方法与实验方案</a:t>
              </a:r>
              <a:endParaRPr lang="zh-CN" altLang="en-US" sz="1500" b="1" dirty="0">
                <a:sym typeface="微软雅黑" panose="020B0503020204020204" pitchFamily="34" charset="-122"/>
              </a:endParaRPr>
            </a:p>
          </p:txBody>
        </p:sp>
        <p:sp>
          <p:nvSpPr>
            <p:cNvPr id="8" name="文本框 7"/>
            <p:cNvSpPr txBox="1"/>
            <p:nvPr>
              <p:custDataLst>
                <p:tags r:id="rId4"/>
              </p:custDataLst>
            </p:nvPr>
          </p:nvSpPr>
          <p:spPr>
            <a:xfrm>
              <a:off x="361" y="6295"/>
              <a:ext cx="3013" cy="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ct val="130000"/>
                </a:lnSpc>
                <a:buFont typeface="Arial" panose="020B0604020202090204" pitchFamily="34" charset="0"/>
                <a:buChar char="•"/>
              </a:pPr>
              <a:r>
                <a:rPr lang="zh-CN" altLang="en-US" sz="1000" dirty="0">
                  <a:latin typeface="Arial" panose="020B0604020202090204" pitchFamily="34" charset="0"/>
                  <a:ea typeface="微软雅黑" panose="020B0503020204020204" pitchFamily="34" charset="-122"/>
                </a:rPr>
                <a:t>研究方法</a:t>
              </a:r>
              <a:endParaRPr lang="zh-CN" altLang="en-US" sz="1000" dirty="0">
                <a:latin typeface="Arial" panose="020B0604020202090204" pitchFamily="34" charset="0"/>
                <a:ea typeface="微软雅黑" panose="020B0503020204020204" pitchFamily="34" charset="-122"/>
              </a:endParaRPr>
            </a:p>
            <a:p>
              <a:pPr marL="171450" indent="-171450">
                <a:lnSpc>
                  <a:spcPct val="130000"/>
                </a:lnSpc>
                <a:buFont typeface="Arial" panose="020B0604020202090204" pitchFamily="34" charset="0"/>
                <a:buChar char="•"/>
              </a:pPr>
              <a:r>
                <a:rPr lang="zh-CN" altLang="en-US" sz="1000" dirty="0">
                  <a:latin typeface="Arial" panose="020B0604020202090204" pitchFamily="34" charset="0"/>
                  <a:ea typeface="微软雅黑" panose="020B0503020204020204" pitchFamily="34" charset="-122"/>
                </a:rPr>
                <a:t>实验方案</a:t>
              </a:r>
              <a:endParaRPr lang="zh-CN" altLang="en-US" sz="1000" dirty="0">
                <a:latin typeface="Arial" panose="020B060402020209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3335020" y="3295650"/>
            <a:ext cx="2541270" cy="1206500"/>
            <a:chOff x="101" y="5799"/>
            <a:chExt cx="4002" cy="1900"/>
          </a:xfrm>
        </p:grpSpPr>
        <p:sp>
          <p:nvSpPr>
            <p:cNvPr id="11" name="矩形 30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01" y="5799"/>
              <a:ext cx="3549" cy="5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38" tIns="45719" rIns="91438" bIns="45719">
              <a:spAutoFit/>
            </a:bodyPr>
            <a:lstStyle>
              <a:lvl1pPr>
                <a:spcBef>
                  <a:spcPct val="20000"/>
                </a:spcBef>
                <a:buFont typeface="Arial" panose="020B060402020209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9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9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9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Arial" panose="020B0604020202090204" pitchFamily="34" charset="0"/>
                <a:buNone/>
              </a:pPr>
              <a:r>
                <a:rPr lang="en-US" altLang="zh-CN" sz="1500" b="1" dirty="0">
                  <a:sym typeface="微软雅黑" panose="020B0503020204020204" pitchFamily="34" charset="-122"/>
                </a:rPr>
                <a:t>3 </a:t>
              </a:r>
              <a:r>
                <a:rPr lang="zh-CN" altLang="en-US" sz="1500" b="1" dirty="0">
                  <a:sym typeface="微软雅黑" panose="020B0503020204020204" pitchFamily="34" charset="-122"/>
                </a:rPr>
                <a:t>数据集</a:t>
              </a:r>
              <a:r>
                <a:rPr lang="zh-CN" altLang="en-US" sz="1500" b="1" dirty="0">
                  <a:sym typeface="微软雅黑" panose="020B0503020204020204" pitchFamily="34" charset="-122"/>
                </a:rPr>
                <a:t>构建</a:t>
              </a:r>
              <a:endParaRPr lang="zh-CN" altLang="en-US" sz="1500" b="1" dirty="0">
                <a:sym typeface="微软雅黑" panose="020B0503020204020204" pitchFamily="34" charset="-122"/>
              </a:endParaRPr>
            </a:p>
          </p:txBody>
        </p:sp>
        <p:sp>
          <p:nvSpPr>
            <p:cNvPr id="12" name="文本框 11"/>
            <p:cNvSpPr txBox="1"/>
            <p:nvPr>
              <p:custDataLst>
                <p:tags r:id="rId6"/>
              </p:custDataLst>
            </p:nvPr>
          </p:nvSpPr>
          <p:spPr>
            <a:xfrm>
              <a:off x="1090" y="6295"/>
              <a:ext cx="3013" cy="14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ct val="130000"/>
                </a:lnSpc>
                <a:buFont typeface="Arial" panose="020B0604020202090204" pitchFamily="34" charset="0"/>
                <a:buChar char="•"/>
              </a:pPr>
              <a:r>
                <a:rPr lang="zh-CN" altLang="en-US" sz="1000" dirty="0">
                  <a:latin typeface="Arial" panose="020B0604020202090204" pitchFamily="34" charset="0"/>
                  <a:ea typeface="微软雅黑" panose="020B0503020204020204" pitchFamily="34" charset="-122"/>
                </a:rPr>
                <a:t>数据采集</a:t>
              </a:r>
              <a:endParaRPr lang="zh-CN" altLang="en-US" sz="1000" dirty="0">
                <a:latin typeface="Arial" panose="020B0604020202090204" pitchFamily="34" charset="0"/>
                <a:ea typeface="微软雅黑" panose="020B0503020204020204" pitchFamily="34" charset="-122"/>
              </a:endParaRPr>
            </a:p>
            <a:p>
              <a:pPr marL="171450" indent="-171450">
                <a:lnSpc>
                  <a:spcPct val="130000"/>
                </a:lnSpc>
                <a:buFont typeface="Arial" panose="020B0604020202090204" pitchFamily="34" charset="0"/>
                <a:buChar char="•"/>
              </a:pPr>
              <a:r>
                <a:rPr lang="zh-CN" altLang="en-US" sz="1000" dirty="0">
                  <a:latin typeface="Arial" panose="020B0604020202090204" pitchFamily="34" charset="0"/>
                  <a:ea typeface="微软雅黑" panose="020B0503020204020204" pitchFamily="34" charset="-122"/>
                </a:rPr>
                <a:t>预处理</a:t>
              </a:r>
              <a:endParaRPr lang="zh-CN" altLang="en-US" sz="1000" dirty="0">
                <a:latin typeface="Arial" panose="020B0604020202090204" pitchFamily="34" charset="0"/>
                <a:ea typeface="微软雅黑" panose="020B0503020204020204" pitchFamily="34" charset="-122"/>
              </a:endParaRPr>
            </a:p>
            <a:p>
              <a:pPr marL="171450" indent="-171450">
                <a:lnSpc>
                  <a:spcPct val="130000"/>
                </a:lnSpc>
                <a:buFont typeface="Arial" panose="020B0604020202090204" pitchFamily="34" charset="0"/>
                <a:buChar char="•"/>
              </a:pPr>
              <a:r>
                <a:rPr lang="zh-CN" altLang="en-US" sz="1000" dirty="0">
                  <a:latin typeface="Arial" panose="020B0604020202090204" pitchFamily="34" charset="0"/>
                  <a:ea typeface="微软雅黑" panose="020B0503020204020204" pitchFamily="34" charset="-122"/>
                </a:rPr>
                <a:t>推理阶段</a:t>
              </a:r>
              <a:endParaRPr lang="zh-CN" altLang="en-US" sz="1000" dirty="0">
                <a:latin typeface="Arial" panose="020B0604020202090204" pitchFamily="34" charset="0"/>
                <a:ea typeface="微软雅黑" panose="020B0503020204020204" pitchFamily="34" charset="-122"/>
              </a:endParaRPr>
            </a:p>
            <a:p>
              <a:pPr marL="171450" indent="-171450">
                <a:lnSpc>
                  <a:spcPct val="130000"/>
                </a:lnSpc>
                <a:buFont typeface="Arial" panose="020B0604020202090204" pitchFamily="34" charset="0"/>
                <a:buChar char="•"/>
              </a:pPr>
              <a:endParaRPr lang="zh-CN" altLang="en-US" sz="1000" dirty="0">
                <a:latin typeface="Arial" panose="020B060402020209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4414307" y="1090562"/>
            <a:ext cx="2762885" cy="782320"/>
            <a:chOff x="-977" y="5837"/>
            <a:chExt cx="4351" cy="1232"/>
          </a:xfrm>
        </p:grpSpPr>
        <p:sp>
          <p:nvSpPr>
            <p:cNvPr id="17" name="矩形 30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-977" y="5837"/>
              <a:ext cx="3971" cy="7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38" tIns="45719" rIns="91438" bIns="45719">
              <a:spAutoFit/>
            </a:bodyPr>
            <a:lstStyle>
              <a:lvl1pPr>
                <a:spcBef>
                  <a:spcPct val="20000"/>
                </a:spcBef>
                <a:buFont typeface="Arial" panose="020B060402020209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9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9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9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Arial" panose="020B0604020202090204" pitchFamily="34" charset="0"/>
                <a:buNone/>
              </a:pPr>
              <a:r>
                <a:rPr lang="en-US" altLang="zh-CN" sz="1500" b="1" dirty="0">
                  <a:sym typeface="微软雅黑" panose="020B0503020204020204" pitchFamily="34" charset="-122"/>
                </a:rPr>
                <a:t>4 </a:t>
              </a:r>
              <a:r>
                <a:rPr lang="zh-CN" altLang="en-US" sz="1500" b="1" dirty="0">
                  <a:sym typeface="微软雅黑" panose="020B0503020204020204" pitchFamily="34" charset="-122"/>
                </a:rPr>
                <a:t>实验结果</a:t>
              </a:r>
              <a:endParaRPr lang="zh-CN" altLang="en-US" sz="1500" b="1" dirty="0">
                <a:sym typeface="微软雅黑" panose="020B0503020204020204" pitchFamily="34" charset="-122"/>
              </a:endParaRPr>
            </a:p>
            <a:p>
              <a:pPr algn="ctr" eaLnBrk="1" hangingPunct="1"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875" dirty="0">
                <a:sym typeface="微软雅黑" panose="020B0503020204020204" pitchFamily="34" charset="-122"/>
              </a:endParaRPr>
            </a:p>
          </p:txBody>
        </p:sp>
        <p:sp>
          <p:nvSpPr>
            <p:cNvPr id="18" name="文本框 17"/>
            <p:cNvSpPr txBox="1"/>
            <p:nvPr>
              <p:custDataLst>
                <p:tags r:id="rId8"/>
              </p:custDataLst>
            </p:nvPr>
          </p:nvSpPr>
          <p:spPr>
            <a:xfrm>
              <a:off x="361" y="6295"/>
              <a:ext cx="3013" cy="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ct val="130000"/>
                </a:lnSpc>
                <a:buFont typeface="Arial" panose="020B0604020202090204" pitchFamily="34" charset="0"/>
                <a:buChar char="•"/>
              </a:pPr>
              <a:r>
                <a:rPr lang="en-US" altLang="zh-CN" sz="1000" dirty="0">
                  <a:latin typeface="Arial" panose="020B0604020202090204" pitchFamily="34" charset="0"/>
                  <a:ea typeface="微软雅黑" panose="020B0503020204020204" pitchFamily="34" charset="-122"/>
                </a:rPr>
                <a:t>LLM</a:t>
              </a:r>
              <a:r>
                <a:rPr lang="zh-CN" altLang="en-US" sz="1000" dirty="0">
                  <a:latin typeface="Arial" panose="020B0604020202090204" pitchFamily="34" charset="0"/>
                  <a:ea typeface="微软雅黑" panose="020B0503020204020204" pitchFamily="34" charset="-122"/>
                </a:rPr>
                <a:t>测试</a:t>
              </a:r>
              <a:r>
                <a:rPr lang="zh-CN" altLang="en-US" sz="1000" dirty="0">
                  <a:latin typeface="Arial" panose="020B0604020202090204" pitchFamily="34" charset="0"/>
                  <a:ea typeface="微软雅黑" panose="020B0503020204020204" pitchFamily="34" charset="-122"/>
                </a:rPr>
                <a:t>结果</a:t>
              </a:r>
              <a:endParaRPr lang="zh-CN" altLang="en-US" sz="1000" dirty="0">
                <a:latin typeface="Arial" panose="020B0604020202090204" pitchFamily="34" charset="0"/>
                <a:ea typeface="微软雅黑" panose="020B0503020204020204" pitchFamily="34" charset="-122"/>
              </a:endParaRPr>
            </a:p>
            <a:p>
              <a:pPr marL="171450" indent="-171450">
                <a:lnSpc>
                  <a:spcPct val="130000"/>
                </a:lnSpc>
                <a:buFont typeface="Arial" panose="020B0604020202090204" pitchFamily="34" charset="0"/>
                <a:buChar char="•"/>
              </a:pPr>
              <a:r>
                <a:rPr lang="zh-CN" altLang="en-US" sz="1000" dirty="0">
                  <a:latin typeface="Arial" panose="020B0604020202090204" pitchFamily="34" charset="0"/>
                  <a:ea typeface="微软雅黑" panose="020B0503020204020204" pitchFamily="34" charset="-122"/>
                </a:rPr>
                <a:t>基线方法对比</a:t>
              </a:r>
              <a:r>
                <a:rPr lang="zh-CN" altLang="en-US" sz="1000" dirty="0">
                  <a:latin typeface="Arial" panose="020B0604020202090204" pitchFamily="34" charset="0"/>
                  <a:ea typeface="微软雅黑" panose="020B0503020204020204" pitchFamily="34" charset="-122"/>
                </a:rPr>
                <a:t>结果</a:t>
              </a:r>
              <a:endParaRPr lang="zh-CN" altLang="en-US" sz="1000" dirty="0">
                <a:latin typeface="Arial" panose="020B060402020209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7733063" y="2306574"/>
            <a:ext cx="749673" cy="751323"/>
            <a:chOff x="816008" y="2756789"/>
            <a:chExt cx="749673" cy="751323"/>
          </a:xfrm>
        </p:grpSpPr>
        <p:sp>
          <p:nvSpPr>
            <p:cNvPr id="14" name="椭圆 18"/>
            <p:cNvSpPr>
              <a:spLocks noChangeArrowheads="1"/>
            </p:cNvSpPr>
            <p:nvPr/>
          </p:nvSpPr>
          <p:spPr bwMode="auto">
            <a:xfrm>
              <a:off x="816008" y="2756789"/>
              <a:ext cx="749673" cy="751323"/>
            </a:xfrm>
            <a:prstGeom prst="ellipse">
              <a:avLst/>
            </a:prstGeom>
            <a:solidFill>
              <a:srgbClr val="A41C34"/>
            </a:solidFill>
            <a:ln w="38100">
              <a:solidFill>
                <a:srgbClr val="E1DEC9"/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9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9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9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9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sym typeface="微软雅黑" panose="020B0503020204020204" pitchFamily="34" charset="-122"/>
              </a:endParaRPr>
            </a:p>
          </p:txBody>
        </p:sp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6430" y="2875344"/>
              <a:ext cx="479696" cy="491384"/>
            </a:xfrm>
            <a:prstGeom prst="rect">
              <a:avLst/>
            </a:prstGeom>
            <a:solidFill>
              <a:srgbClr val="A41C34"/>
            </a:solidFill>
          </p:spPr>
        </p:pic>
      </p:grpSp>
      <p:grpSp>
        <p:nvGrpSpPr>
          <p:cNvPr id="19" name="组合 18"/>
          <p:cNvGrpSpPr/>
          <p:nvPr/>
        </p:nvGrpSpPr>
        <p:grpSpPr>
          <a:xfrm>
            <a:off x="6709197" y="3295917"/>
            <a:ext cx="2561590" cy="806450"/>
            <a:chOff x="101" y="5799"/>
            <a:chExt cx="4034" cy="1270"/>
          </a:xfrm>
        </p:grpSpPr>
        <p:sp>
          <p:nvSpPr>
            <p:cNvPr id="20" name="矩形 30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101" y="5799"/>
              <a:ext cx="3549" cy="7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38" tIns="45719" rIns="91438" bIns="45719">
              <a:spAutoFit/>
            </a:bodyPr>
            <a:lstStyle>
              <a:lvl1pPr>
                <a:spcBef>
                  <a:spcPct val="20000"/>
                </a:spcBef>
                <a:buFont typeface="Arial" panose="020B060402020209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9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9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9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Arial" panose="020B0604020202090204" pitchFamily="34" charset="0"/>
                <a:buNone/>
              </a:pPr>
              <a:r>
                <a:rPr lang="en-US" altLang="zh-CN" sz="1500" b="1" dirty="0">
                  <a:sym typeface="微软雅黑" panose="020B0503020204020204" pitchFamily="34" charset="-122"/>
                </a:rPr>
                <a:t>5 </a:t>
              </a:r>
              <a:r>
                <a:rPr lang="zh-CN" altLang="en-US" sz="1500" b="1" dirty="0">
                  <a:sym typeface="微软雅黑" panose="020B0503020204020204" pitchFamily="34" charset="-122"/>
                </a:rPr>
                <a:t>落地应用</a:t>
              </a:r>
              <a:endParaRPr lang="zh-CN" altLang="en-US" sz="1500" b="1" dirty="0">
                <a:sym typeface="微软雅黑" panose="020B0503020204020204" pitchFamily="34" charset="-122"/>
              </a:endParaRPr>
            </a:p>
            <a:p>
              <a:pPr algn="ctr" eaLnBrk="1" hangingPunct="1"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875" dirty="0">
                <a:sym typeface="微软雅黑" panose="020B0503020204020204" pitchFamily="34" charset="-122"/>
              </a:endParaRPr>
            </a:p>
          </p:txBody>
        </p:sp>
        <p:sp>
          <p:nvSpPr>
            <p:cNvPr id="21" name="文本框 20"/>
            <p:cNvSpPr txBox="1"/>
            <p:nvPr>
              <p:custDataLst>
                <p:tags r:id="rId10"/>
              </p:custDataLst>
            </p:nvPr>
          </p:nvSpPr>
          <p:spPr>
            <a:xfrm>
              <a:off x="1122" y="6295"/>
              <a:ext cx="3013" cy="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ct val="130000"/>
                </a:lnSpc>
                <a:buFont typeface="Arial" panose="020B0604020202090204" pitchFamily="34" charset="0"/>
                <a:buChar char="•"/>
              </a:pPr>
              <a:r>
                <a:rPr lang="zh-CN" altLang="en-US" sz="1000" dirty="0">
                  <a:latin typeface="Arial" panose="020B0604020202090204" pitchFamily="34" charset="0"/>
                  <a:ea typeface="微软雅黑" panose="020B0503020204020204" pitchFamily="34" charset="-122"/>
                </a:rPr>
                <a:t>中国开源年报</a:t>
              </a:r>
              <a:endParaRPr lang="zh-CN" altLang="en-US" sz="1000" dirty="0">
                <a:latin typeface="Arial" panose="020B0604020202090204" pitchFamily="34" charset="0"/>
                <a:ea typeface="微软雅黑" panose="020B0503020204020204" pitchFamily="34" charset="-122"/>
              </a:endParaRPr>
            </a:p>
            <a:p>
              <a:pPr marL="171450" indent="-171450">
                <a:lnSpc>
                  <a:spcPct val="130000"/>
                </a:lnSpc>
                <a:buFont typeface="Arial" panose="020B0604020202090204" pitchFamily="34" charset="0"/>
                <a:buChar char="•"/>
              </a:pPr>
              <a:r>
                <a:rPr lang="zh-CN" altLang="en-US" sz="1000" dirty="0">
                  <a:latin typeface="Arial" panose="020B0604020202090204" pitchFamily="34" charset="0"/>
                  <a:ea typeface="微软雅黑" panose="020B0503020204020204" pitchFamily="34" charset="-122"/>
                </a:rPr>
                <a:t>全球开源发展</a:t>
              </a:r>
              <a:r>
                <a:rPr lang="zh-CN" altLang="en-US" sz="1000" dirty="0">
                  <a:latin typeface="Arial" panose="020B0604020202090204" pitchFamily="34" charset="0"/>
                  <a:ea typeface="微软雅黑" panose="020B0503020204020204" pitchFamily="34" charset="-122"/>
                </a:rPr>
                <a:t>报告</a:t>
              </a:r>
              <a:endParaRPr lang="zh-CN" altLang="en-US" sz="1000" dirty="0">
                <a:latin typeface="Arial" panose="020B0604020202090204" pitchFamily="34" charset="0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梯形 34"/>
          <p:cNvSpPr/>
          <p:nvPr/>
        </p:nvSpPr>
        <p:spPr>
          <a:xfrm rot="16200000">
            <a:off x="5584648" y="-338488"/>
            <a:ext cx="1718803" cy="5399903"/>
          </a:xfrm>
          <a:prstGeom prst="trapezoid">
            <a:avLst>
              <a:gd name="adj" fmla="val 16935"/>
            </a:avLst>
          </a:prstGeom>
          <a:solidFill>
            <a:srgbClr val="A41C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37" name="梯形 36"/>
          <p:cNvSpPr/>
          <p:nvPr/>
        </p:nvSpPr>
        <p:spPr>
          <a:xfrm rot="5400000">
            <a:off x="998730" y="477602"/>
            <a:ext cx="1758050" cy="3755509"/>
          </a:xfrm>
          <a:prstGeom prst="trapezoid">
            <a:avLst>
              <a:gd name="adj" fmla="val 17865"/>
            </a:avLst>
          </a:prstGeom>
          <a:solidFill>
            <a:srgbClr val="E1DEC9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27" name="文本框 2"/>
          <p:cNvSpPr txBox="1"/>
          <p:nvPr/>
        </p:nvSpPr>
        <p:spPr>
          <a:xfrm>
            <a:off x="2796809" y="1917123"/>
            <a:ext cx="872675" cy="900246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</a:rPr>
              <a:t>Part</a:t>
            </a:r>
            <a:r>
              <a:rPr lang="en-US" altLang="zh-CN" sz="5400" b="1" dirty="0">
                <a:solidFill>
                  <a:schemeClr val="bg1"/>
                </a:solidFill>
              </a:rPr>
              <a:t>1</a:t>
            </a:r>
            <a:endParaRPr lang="zh-CN" altLang="en-US" sz="5400" b="1" dirty="0">
              <a:solidFill>
                <a:schemeClr val="bg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755380" y="2075425"/>
            <a:ext cx="1765300" cy="560705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1"/>
                </a:solidFill>
                <a:sym typeface="微软雅黑" panose="020B0503020204020204" pitchFamily="34" charset="-122"/>
              </a:rPr>
              <a:t>研究</a:t>
            </a:r>
            <a:r>
              <a:rPr lang="zh-CN" altLang="en-US" sz="3200" b="1" dirty="0">
                <a:solidFill>
                  <a:schemeClr val="bg1"/>
                </a:solidFill>
                <a:sym typeface="微软雅黑" panose="020B0503020204020204" pitchFamily="34" charset="-122"/>
              </a:rPr>
              <a:t>现状</a:t>
            </a:r>
            <a:endParaRPr lang="zh-CN" altLang="en-US" sz="3200" b="1" dirty="0">
              <a:solidFill>
                <a:schemeClr val="bg1"/>
              </a:solidFill>
              <a:sym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756" b="82622"/>
          <a:stretch>
            <a:fillRect/>
          </a:stretch>
        </p:blipFill>
        <p:spPr>
          <a:xfrm>
            <a:off x="-48130" y="889463"/>
            <a:ext cx="3198999" cy="19279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46"/>
          <p:cNvSpPr>
            <a:spLocks noChangeArrowheads="1"/>
          </p:cNvSpPr>
          <p:nvPr/>
        </p:nvSpPr>
        <p:spPr bwMode="auto">
          <a:xfrm>
            <a:off x="476188" y="149489"/>
            <a:ext cx="2014220" cy="459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l">
              <a:buNone/>
            </a:pPr>
            <a:r>
              <a:rPr lang="zh-CN" altLang="en-US" sz="2400" b="1" dirty="0" err="1"/>
              <a:t>一</a:t>
            </a:r>
            <a:r>
              <a:rPr lang="en-US" altLang="zh-CN" sz="2400" b="1" dirty="0" err="1"/>
              <a:t>、研究现状</a:t>
            </a:r>
            <a:endParaRPr lang="en-US" altLang="zh-CN" sz="2400" b="1" dirty="0" err="1"/>
          </a:p>
        </p:txBody>
      </p:sp>
      <p:sp>
        <p:nvSpPr>
          <p:cNvPr id="34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rgbClr val="A41C34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9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8445" y="864235"/>
            <a:ext cx="5243195" cy="3415030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Char char="•"/>
            </a:pPr>
            <a:r>
              <a:rPr lang="zh-CN" altLang="en-US" sz="1600" b="1" i="0">
                <a:solidFill>
                  <a:srgbClr val="1D1D1F"/>
                </a:solidFill>
                <a:latin typeface="system-ui"/>
                <a:ea typeface="system-ui"/>
              </a:rPr>
              <a:t>研究背景</a:t>
            </a:r>
            <a:r>
              <a:rPr lang="zh-CN" altLang="en-US" sz="1600" b="0" i="0">
                <a:solidFill>
                  <a:srgbClr val="1D1D1F"/>
                </a:solidFill>
                <a:latin typeface="system-ui"/>
                <a:ea typeface="system-ui"/>
              </a:rPr>
              <a:t>：</a:t>
            </a:r>
            <a:r>
              <a:rPr lang="en-US" altLang="zh-CN" sz="1600" b="0" i="0">
                <a:solidFill>
                  <a:srgbClr val="1D1D1F"/>
                </a:solidFill>
                <a:latin typeface="system-ui"/>
                <a:ea typeface="system-ui"/>
              </a:rPr>
              <a:t>GitHub</a:t>
            </a:r>
            <a:r>
              <a:rPr lang="zh-CN" altLang="en-US" sz="1600" b="0" i="0">
                <a:solidFill>
                  <a:srgbClr val="1D1D1F"/>
                </a:solidFill>
                <a:latin typeface="system-ui"/>
                <a:ea typeface="system-ui"/>
              </a:rPr>
              <a:t>作为全球最大的开源平台，仓库数量持续增长，有效的标签分类系统对于项目发现、生态分析至关重要</a:t>
            </a:r>
            <a:endParaRPr lang="zh-CN" altLang="en-US" sz="1600" b="0" i="0">
              <a:solidFill>
                <a:srgbClr val="1D1D1F"/>
              </a:solidFill>
              <a:latin typeface="system-ui"/>
              <a:ea typeface="system-ui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Char char="•"/>
            </a:pPr>
            <a:r>
              <a:rPr lang="zh-CN" altLang="en-US" sz="1600" b="1" i="0">
                <a:solidFill>
                  <a:srgbClr val="1D1D1F"/>
                </a:solidFill>
                <a:latin typeface="system-ui"/>
                <a:ea typeface="system-ui"/>
              </a:rPr>
              <a:t>核心问题：</a:t>
            </a:r>
            <a:r>
              <a:rPr lang="zh-CN" altLang="en-US" sz="1600" b="0" i="0">
                <a:solidFill>
                  <a:srgbClr val="1D1D1F"/>
                </a:solidFill>
                <a:latin typeface="system-ui"/>
                <a:ea typeface="system-ui"/>
              </a:rPr>
              <a:t>大量</a:t>
            </a:r>
            <a:r>
              <a:rPr lang="en-US" altLang="zh-CN" sz="1600" b="0" i="0">
                <a:solidFill>
                  <a:srgbClr val="1D1D1F"/>
                </a:solidFill>
                <a:latin typeface="system-ui"/>
                <a:ea typeface="system-ui"/>
              </a:rPr>
              <a:t>GitHub</a:t>
            </a:r>
            <a:r>
              <a:rPr lang="zh-CN" altLang="en-US" sz="1600" b="0" i="0">
                <a:solidFill>
                  <a:srgbClr val="1D1D1F"/>
                </a:solidFill>
                <a:latin typeface="system-ui"/>
                <a:ea typeface="system-ui"/>
              </a:rPr>
              <a:t>仓库</a:t>
            </a:r>
            <a:r>
              <a:rPr lang="zh-CN" altLang="en-US" sz="1600" b="0" i="0">
                <a:solidFill>
                  <a:srgbClr val="C00000"/>
                </a:solidFill>
                <a:latin typeface="system-ui"/>
                <a:ea typeface="system-ui"/>
              </a:rPr>
              <a:t>缺乏原生</a:t>
            </a:r>
            <a:r>
              <a:rPr lang="en-US" altLang="zh-CN" sz="1600" b="0" i="0">
                <a:solidFill>
                  <a:srgbClr val="C00000"/>
                </a:solidFill>
                <a:latin typeface="system-ui"/>
                <a:ea typeface="system-ui"/>
              </a:rPr>
              <a:t>Topic</a:t>
            </a:r>
            <a:r>
              <a:rPr lang="zh-CN" altLang="en-US" sz="1600" b="0" i="0">
                <a:solidFill>
                  <a:srgbClr val="C00000"/>
                </a:solidFill>
                <a:latin typeface="system-ui"/>
                <a:ea typeface="system-ui"/>
              </a:rPr>
              <a:t>标签</a:t>
            </a:r>
            <a:r>
              <a:rPr lang="zh-CN" altLang="en-US" sz="1600" b="0" i="0">
                <a:solidFill>
                  <a:srgbClr val="1D1D1F"/>
                </a:solidFill>
                <a:latin typeface="system-ui"/>
                <a:ea typeface="system-ui"/>
              </a:rPr>
              <a:t>，现有标签生成方法</a:t>
            </a:r>
            <a:r>
              <a:rPr lang="zh-CN" altLang="en-US" sz="1600" b="0" i="0">
                <a:solidFill>
                  <a:srgbClr val="C00000"/>
                </a:solidFill>
                <a:latin typeface="system-ui"/>
                <a:ea typeface="system-ui"/>
              </a:rPr>
              <a:t>存在效率和准确性问题</a:t>
            </a:r>
            <a:endParaRPr lang="zh-CN" altLang="en-US" sz="1600" b="0" i="0">
              <a:solidFill>
                <a:srgbClr val="C00000"/>
              </a:solidFill>
              <a:latin typeface="system-ui"/>
              <a:ea typeface="system-ui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Char char="•"/>
            </a:pPr>
            <a:r>
              <a:rPr lang="zh-CN" altLang="en-US" sz="1600" b="1" i="0">
                <a:solidFill>
                  <a:srgbClr val="1D1D1F"/>
                </a:solidFill>
                <a:latin typeface="system-ui"/>
                <a:ea typeface="system-ui"/>
              </a:rPr>
              <a:t>研究价值：</a:t>
            </a:r>
            <a:r>
              <a:rPr lang="zh-CN" altLang="en-US" sz="1600" b="0" i="0">
                <a:solidFill>
                  <a:srgbClr val="1D1D1F"/>
                </a:solidFill>
                <a:latin typeface="system-ui"/>
                <a:ea typeface="system-ui"/>
              </a:rPr>
              <a:t>系统化解决</a:t>
            </a:r>
            <a:r>
              <a:rPr lang="en-US" altLang="zh-CN" sz="1600" b="0" i="0">
                <a:solidFill>
                  <a:srgbClr val="1D1D1F"/>
                </a:solidFill>
                <a:latin typeface="system-ui"/>
                <a:ea typeface="system-ui"/>
              </a:rPr>
              <a:t>OpenDigger</a:t>
            </a:r>
            <a:r>
              <a:rPr lang="zh-CN" altLang="en-US" sz="1600" b="0" i="0">
                <a:solidFill>
                  <a:srgbClr val="C00000"/>
                </a:solidFill>
                <a:latin typeface="system-ui"/>
                <a:ea typeface="system-ui"/>
              </a:rPr>
              <a:t>技术标签缺失问题</a:t>
            </a:r>
            <a:r>
              <a:rPr lang="zh-CN" altLang="en-US" sz="1600" b="0" i="0">
                <a:solidFill>
                  <a:srgbClr val="1D1D1F"/>
                </a:solidFill>
                <a:latin typeface="system-ui"/>
                <a:ea typeface="system-ui"/>
              </a:rPr>
              <a:t>，为开源生态分析提供更完善的数据基础</a:t>
            </a:r>
            <a:endParaRPr lang="zh-CN" altLang="en-US" sz="1600" b="0" i="0">
              <a:solidFill>
                <a:srgbClr val="1D1D1F"/>
              </a:solidFill>
              <a:latin typeface="system-ui"/>
              <a:ea typeface="system-ui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Char char="•"/>
            </a:pPr>
            <a:r>
              <a:rPr lang="zh-CN" altLang="en-US" sz="1600" b="1" i="0">
                <a:solidFill>
                  <a:srgbClr val="1D1D1F"/>
                </a:solidFill>
                <a:latin typeface="system-ui"/>
                <a:ea typeface="system-ui"/>
              </a:rPr>
              <a:t>研究目标：</a:t>
            </a:r>
            <a:r>
              <a:rPr lang="zh-CN" altLang="en-US" sz="1600" b="0" i="0">
                <a:solidFill>
                  <a:srgbClr val="1D1D1F"/>
                </a:solidFill>
                <a:latin typeface="system-ui"/>
                <a:ea typeface="system-ui"/>
              </a:rPr>
              <a:t>探索</a:t>
            </a:r>
            <a:r>
              <a:rPr lang="en-US" altLang="zh-CN" sz="1600" b="0" i="0">
                <a:solidFill>
                  <a:srgbClr val="1D1D1F"/>
                </a:solidFill>
                <a:latin typeface="system-ui"/>
                <a:ea typeface="system-ui"/>
              </a:rPr>
              <a:t>LLM</a:t>
            </a:r>
            <a:r>
              <a:rPr lang="zh-CN" altLang="en-US" sz="1600" b="0" i="0">
                <a:solidFill>
                  <a:srgbClr val="1D1D1F"/>
                </a:solidFill>
                <a:latin typeface="system-ui"/>
                <a:ea typeface="system-ui"/>
              </a:rPr>
              <a:t>驱动的</a:t>
            </a:r>
            <a:r>
              <a:rPr lang="zh-CN" altLang="en-US" sz="1600" b="0" i="0">
                <a:solidFill>
                  <a:srgbClr val="C00000"/>
                </a:solidFill>
                <a:latin typeface="system-ui"/>
                <a:ea typeface="system-ui"/>
              </a:rPr>
              <a:t>自动化</a:t>
            </a:r>
            <a:r>
              <a:rPr lang="en-US" altLang="zh-CN" sz="1600" b="0" i="0">
                <a:solidFill>
                  <a:srgbClr val="C00000"/>
                </a:solidFill>
                <a:latin typeface="system-ui"/>
                <a:ea typeface="system-ui"/>
              </a:rPr>
              <a:t>Topic</a:t>
            </a:r>
            <a:r>
              <a:rPr lang="zh-CN" altLang="en-US" sz="1600" b="0" i="0">
                <a:solidFill>
                  <a:srgbClr val="C00000"/>
                </a:solidFill>
                <a:latin typeface="system-ui"/>
                <a:ea typeface="system-ui"/>
              </a:rPr>
              <a:t>生成方法</a:t>
            </a:r>
            <a:r>
              <a:rPr lang="zh-CN" altLang="en-US" sz="1600" b="0" i="0">
                <a:solidFill>
                  <a:srgbClr val="1D1D1F"/>
                </a:solidFill>
                <a:latin typeface="system-ui"/>
                <a:ea typeface="system-ui"/>
              </a:rPr>
              <a:t>，提升</a:t>
            </a:r>
            <a:r>
              <a:rPr lang="en-US" altLang="zh-CN" sz="1600" b="0" i="0">
                <a:solidFill>
                  <a:srgbClr val="1D1D1F"/>
                </a:solidFill>
                <a:latin typeface="system-ui"/>
                <a:ea typeface="system-ui"/>
              </a:rPr>
              <a:t>OpenDigger</a:t>
            </a:r>
            <a:r>
              <a:rPr lang="zh-CN" altLang="en-US" sz="1600" b="0" i="0">
                <a:solidFill>
                  <a:srgbClr val="1D1D1F"/>
                </a:solidFill>
                <a:latin typeface="system-ui"/>
                <a:ea typeface="system-ui"/>
              </a:rPr>
              <a:t>标签体系的完整性和准确性</a:t>
            </a:r>
            <a:endParaRPr lang="zh-CN" altLang="en-US" sz="1600" b="0" i="0">
              <a:solidFill>
                <a:srgbClr val="1D1D1F"/>
              </a:solidFill>
              <a:latin typeface="system-ui"/>
              <a:ea typeface="system-ui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2680" y="1892935"/>
            <a:ext cx="1834515" cy="31108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1505" y="149225"/>
            <a:ext cx="2856865" cy="181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46"/>
          <p:cNvSpPr>
            <a:spLocks noChangeArrowheads="1"/>
          </p:cNvSpPr>
          <p:nvPr/>
        </p:nvSpPr>
        <p:spPr bwMode="auto">
          <a:xfrm>
            <a:off x="476250" y="149225"/>
            <a:ext cx="2805430" cy="584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noAutofit/>
          </a:bodyPr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l">
              <a:buNone/>
            </a:pPr>
            <a:r>
              <a:rPr lang="zh-CN" altLang="en-US" sz="2400" b="1" dirty="0" err="1"/>
              <a:t>一</a:t>
            </a:r>
            <a:r>
              <a:rPr lang="en-US" altLang="zh-CN" sz="2400" b="1" dirty="0" err="1"/>
              <a:t>、研究现状</a:t>
            </a:r>
            <a:endParaRPr lang="en-US" altLang="zh-CN" sz="1600" b="1" dirty="0" err="1"/>
          </a:p>
        </p:txBody>
      </p:sp>
      <p:sp>
        <p:nvSpPr>
          <p:cNvPr id="34" name="等腰三角形 47"/>
          <p:cNvSpPr>
            <a:spLocks noChangeArrowheads="1"/>
          </p:cNvSpPr>
          <p:nvPr/>
        </p:nvSpPr>
        <p:spPr bwMode="auto">
          <a:xfrm rot="5400000">
            <a:off x="-20955" y="138430"/>
            <a:ext cx="740410" cy="698500"/>
          </a:xfrm>
          <a:prstGeom prst="triangle">
            <a:avLst>
              <a:gd name="adj" fmla="val 50000"/>
            </a:avLst>
          </a:prstGeom>
          <a:solidFill>
            <a:srgbClr val="A41C34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9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6" name="图形 3"/>
          <p:cNvSpPr/>
          <p:nvPr>
            <p:custDataLst>
              <p:tags r:id="rId1"/>
            </p:custDataLst>
          </p:nvPr>
        </p:nvSpPr>
        <p:spPr>
          <a:xfrm>
            <a:off x="163830" y="734695"/>
            <a:ext cx="4447540" cy="4121785"/>
          </a:xfrm>
          <a:custGeom>
            <a:avLst/>
            <a:gdLst>
              <a:gd name="connsiteX0" fmla="*/ 0 w 5656607"/>
              <a:gd name="connsiteY0" fmla="*/ 298931 h 4934454"/>
              <a:gd name="connsiteX1" fmla="*/ 0 w 5656607"/>
              <a:gd name="connsiteY1" fmla="*/ 4635524 h 4934454"/>
              <a:gd name="connsiteX2" fmla="*/ 312591 w 5656607"/>
              <a:gd name="connsiteY2" fmla="*/ 4934455 h 4934454"/>
              <a:gd name="connsiteX3" fmla="*/ 4364164 w 5656607"/>
              <a:gd name="connsiteY3" fmla="*/ 4934455 h 4934454"/>
              <a:gd name="connsiteX4" fmla="*/ 4669709 w 5656607"/>
              <a:gd name="connsiteY4" fmla="*/ 4698646 h 4934454"/>
              <a:gd name="connsiteX5" fmla="*/ 5649438 w 5656607"/>
              <a:gd name="connsiteY5" fmla="*/ 362058 h 4934454"/>
              <a:gd name="connsiteX6" fmla="*/ 5343892 w 5656607"/>
              <a:gd name="connsiteY6" fmla="*/ 0 h 4934454"/>
              <a:gd name="connsiteX7" fmla="*/ 312591 w 5656607"/>
              <a:gd name="connsiteY7" fmla="*/ 0 h 4934454"/>
              <a:gd name="connsiteX8" fmla="*/ 0 w 5656607"/>
              <a:gd name="connsiteY8" fmla="*/ 298931 h 4934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56607" h="4934454">
                <a:moveTo>
                  <a:pt x="0" y="298931"/>
                </a:moveTo>
                <a:lnTo>
                  <a:pt x="0" y="4635524"/>
                </a:lnTo>
                <a:cubicBezTo>
                  <a:pt x="0" y="4800617"/>
                  <a:pt x="139952" y="4934455"/>
                  <a:pt x="312591" y="4934455"/>
                </a:cubicBezTo>
                <a:lnTo>
                  <a:pt x="4364164" y="4934455"/>
                </a:lnTo>
                <a:cubicBezTo>
                  <a:pt x="4511369" y="4934455"/>
                  <a:pt x="4638625" y="4836244"/>
                  <a:pt x="4669709" y="4698646"/>
                </a:cubicBezTo>
                <a:lnTo>
                  <a:pt x="5649438" y="362058"/>
                </a:lnTo>
                <a:cubicBezTo>
                  <a:pt x="5691506" y="175836"/>
                  <a:pt x="5543119" y="0"/>
                  <a:pt x="5343892" y="0"/>
                </a:cubicBezTo>
                <a:lnTo>
                  <a:pt x="312591" y="0"/>
                </a:lnTo>
                <a:cubicBezTo>
                  <a:pt x="139952" y="0"/>
                  <a:pt x="0" y="133836"/>
                  <a:pt x="0" y="298931"/>
                </a:cubicBezTo>
                <a:close/>
              </a:path>
            </a:pathLst>
          </a:custGeom>
          <a:solidFill>
            <a:srgbClr val="376FFF"/>
          </a:solidFill>
          <a:ln w="6243" cap="flat">
            <a:noFill/>
            <a:prstDash val="solid"/>
            <a:miter/>
          </a:ln>
        </p:spPr>
        <p:txBody>
          <a:bodyPr rtlCol="0" anchor="ctr"/>
          <a:p>
            <a:endParaRPr lang="zh-CN" altLang="en-US" sz="1535"/>
          </a:p>
        </p:txBody>
      </p:sp>
      <p:sp>
        <p:nvSpPr>
          <p:cNvPr id="7" name="图形 1"/>
          <p:cNvSpPr/>
          <p:nvPr>
            <p:custDataLst>
              <p:tags r:id="rId2"/>
            </p:custDataLst>
          </p:nvPr>
        </p:nvSpPr>
        <p:spPr>
          <a:xfrm flipH="1" flipV="1">
            <a:off x="3693160" y="741045"/>
            <a:ext cx="5337175" cy="4115435"/>
          </a:xfrm>
          <a:custGeom>
            <a:avLst/>
            <a:gdLst>
              <a:gd name="connsiteX0" fmla="*/ 0 w 5656607"/>
              <a:gd name="connsiteY0" fmla="*/ 298931 h 4934454"/>
              <a:gd name="connsiteX1" fmla="*/ 0 w 5656607"/>
              <a:gd name="connsiteY1" fmla="*/ 4635524 h 4934454"/>
              <a:gd name="connsiteX2" fmla="*/ 312591 w 5656607"/>
              <a:gd name="connsiteY2" fmla="*/ 4934455 h 4934454"/>
              <a:gd name="connsiteX3" fmla="*/ 4364164 w 5656607"/>
              <a:gd name="connsiteY3" fmla="*/ 4934455 h 4934454"/>
              <a:gd name="connsiteX4" fmla="*/ 4669709 w 5656607"/>
              <a:gd name="connsiteY4" fmla="*/ 4698646 h 4934454"/>
              <a:gd name="connsiteX5" fmla="*/ 5649438 w 5656607"/>
              <a:gd name="connsiteY5" fmla="*/ 362058 h 4934454"/>
              <a:gd name="connsiteX6" fmla="*/ 5343892 w 5656607"/>
              <a:gd name="connsiteY6" fmla="*/ 0 h 4934454"/>
              <a:gd name="connsiteX7" fmla="*/ 312591 w 5656607"/>
              <a:gd name="connsiteY7" fmla="*/ 0 h 4934454"/>
              <a:gd name="connsiteX8" fmla="*/ 0 w 5656607"/>
              <a:gd name="connsiteY8" fmla="*/ 298931 h 4934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56607" h="4934454">
                <a:moveTo>
                  <a:pt x="0" y="298931"/>
                </a:moveTo>
                <a:lnTo>
                  <a:pt x="0" y="4635524"/>
                </a:lnTo>
                <a:cubicBezTo>
                  <a:pt x="0" y="4800617"/>
                  <a:pt x="139952" y="4934455"/>
                  <a:pt x="312591" y="4934455"/>
                </a:cubicBezTo>
                <a:lnTo>
                  <a:pt x="4364164" y="4934455"/>
                </a:lnTo>
                <a:cubicBezTo>
                  <a:pt x="4511369" y="4934455"/>
                  <a:pt x="4638625" y="4836244"/>
                  <a:pt x="4669709" y="4698646"/>
                </a:cubicBezTo>
                <a:lnTo>
                  <a:pt x="5649438" y="362058"/>
                </a:lnTo>
                <a:cubicBezTo>
                  <a:pt x="5691506" y="175836"/>
                  <a:pt x="5543119" y="0"/>
                  <a:pt x="5343892" y="0"/>
                </a:cubicBezTo>
                <a:lnTo>
                  <a:pt x="312591" y="0"/>
                </a:lnTo>
                <a:cubicBezTo>
                  <a:pt x="139952" y="0"/>
                  <a:pt x="0" y="133836"/>
                  <a:pt x="0" y="298931"/>
                </a:cubicBezTo>
                <a:close/>
              </a:path>
            </a:pathLst>
          </a:custGeom>
          <a:solidFill>
            <a:srgbClr val="000000">
              <a:lumMod val="40000"/>
              <a:lumOff val="60000"/>
              <a:alpha val="15000"/>
            </a:srgbClr>
          </a:solidFill>
          <a:ln w="6243" cap="flat">
            <a:noFill/>
            <a:prstDash val="solid"/>
            <a:miter/>
          </a:ln>
        </p:spPr>
        <p:txBody>
          <a:bodyPr rtlCol="0" anchor="ctr"/>
          <a:p>
            <a:endParaRPr lang="zh-CN" altLang="en-US" sz="1535" dirty="0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1" name="矩形 10"/>
          <p:cNvSpPr/>
          <p:nvPr>
            <p:custDataLst>
              <p:tags r:id="rId3"/>
            </p:custDataLst>
          </p:nvPr>
        </p:nvSpPr>
        <p:spPr>
          <a:xfrm>
            <a:off x="255270" y="1480185"/>
            <a:ext cx="3557905" cy="282702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Char char="•"/>
            </a:pPr>
            <a:r>
              <a:rPr lang="zh-CN" altLang="en-US" sz="1280" b="1" dirty="0">
                <a:ln>
                  <a:noFill/>
                  <a:prstDash val="sysDot"/>
                </a:ln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标签体系概况：</a:t>
            </a:r>
            <a:r>
              <a:rPr lang="zh-CN" altLang="en-US" sz="1280" dirty="0">
                <a:ln>
                  <a:noFill/>
                  <a:prstDash val="sysDot"/>
                </a:ln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OpenDigger作为面向开源生态的数据服务系统，包含公司、基金会、社区</a:t>
            </a:r>
            <a:r>
              <a:rPr lang="en-US" altLang="zh-CN" sz="1280" dirty="0">
                <a:ln>
                  <a:noFill/>
                  <a:prstDash val="sysDot"/>
                </a:ln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en-US" sz="1280" dirty="0">
                <a:ln>
                  <a:noFill/>
                  <a:prstDash val="sysDot"/>
                </a:ln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技术领域等多维度标签 </a:t>
            </a:r>
            <a:endParaRPr lang="zh-CN" altLang="en-US" sz="1280" dirty="0">
              <a:ln>
                <a:noFill/>
                <a:prstDash val="sysDot"/>
              </a:ln>
              <a:solidFill>
                <a:srgbClr val="FFFFFF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Char char="•"/>
            </a:pPr>
            <a:r>
              <a:rPr lang="zh-CN" altLang="en-US" sz="1280" b="1" dirty="0">
                <a:ln>
                  <a:noFill/>
                  <a:prstDash val="sysDot"/>
                </a:ln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人工标注瓶颈：</a:t>
            </a:r>
            <a:r>
              <a:rPr lang="zh-CN" altLang="en-US" sz="1280" dirty="0">
                <a:ln>
                  <a:noFill/>
                  <a:prstDash val="sysDot"/>
                </a:ln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现有标签主要依赖人工标注，如通过Linux基金会的landscape进行标记</a:t>
            </a:r>
            <a:r>
              <a:rPr lang="en-US" altLang="zh-CN" sz="1280" dirty="0">
                <a:ln>
                  <a:noFill/>
                  <a:prstDash val="sysDot"/>
                </a:ln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r>
              <a:rPr lang="zh-CN" altLang="en-US" sz="1280" dirty="0">
                <a:ln>
                  <a:noFill/>
                  <a:prstDash val="sysDot"/>
                </a:ln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人工标注过程耗时费力，难以应对海量新增仓库的标签需求</a:t>
            </a:r>
            <a:endParaRPr lang="zh-CN" altLang="en-US" sz="1280" dirty="0">
              <a:ln>
                <a:noFill/>
                <a:prstDash val="sysDot"/>
              </a:ln>
              <a:solidFill>
                <a:srgbClr val="FFFFFF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Char char="•"/>
            </a:pPr>
            <a:r>
              <a:rPr lang="zh-CN" altLang="en-US" sz="1280" b="1" dirty="0">
                <a:ln>
                  <a:noFill/>
                  <a:prstDash val="sysDot"/>
                </a:ln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数据缺失问题：</a:t>
            </a:r>
            <a:r>
              <a:rPr lang="zh-CN" altLang="en-US" sz="1280" dirty="0">
                <a:ln>
                  <a:noFill/>
                  <a:prstDash val="sysDot"/>
                </a:ln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大量新增仓库缺乏原生Topic标签，导致技术标签生成困难</a:t>
            </a:r>
            <a:endParaRPr lang="zh-CN" altLang="en-US" sz="1280" dirty="0">
              <a:ln>
                <a:noFill/>
                <a:prstDash val="sysDot"/>
              </a:ln>
              <a:solidFill>
                <a:srgbClr val="FFFFFF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280" dirty="0">
              <a:ln>
                <a:noFill/>
                <a:prstDash val="sysDot"/>
              </a:ln>
              <a:solidFill>
                <a:srgbClr val="FFFFFF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4591685" y="1435100"/>
            <a:ext cx="4363085" cy="282702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marL="285750" indent="-28575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Char char="•"/>
            </a:pPr>
            <a:r>
              <a:rPr lang="zh-CN" altLang="en-US" sz="1280" b="1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传统深度学习方法：</a:t>
            </a:r>
            <a:endParaRPr lang="zh-CN" altLang="en-US" sz="1280" b="1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indent="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28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基于仓库元数据（README、</a:t>
            </a:r>
            <a:r>
              <a:rPr lang="en-US" altLang="zh-CN" sz="128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description</a:t>
            </a:r>
            <a:r>
              <a:rPr lang="zh-CN" altLang="en-US" sz="128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）的特征提取</a:t>
            </a:r>
            <a:endParaRPr lang="zh-CN" altLang="en-US" sz="1280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indent="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28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使用CNN、RNN等模型进行文本分类，生成相关Topic</a:t>
            </a:r>
            <a:endParaRPr lang="zh-CN" altLang="en-US" sz="1280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indent="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28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依赖大量标注数据，泛化能力有限</a:t>
            </a:r>
            <a:endParaRPr lang="zh-CN" altLang="en-US" sz="1280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Char char="•"/>
            </a:pPr>
            <a:r>
              <a:rPr lang="zh-CN" altLang="en-US" sz="1280" b="1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零样本学习方法：</a:t>
            </a:r>
            <a:endParaRPr lang="zh-CN" altLang="en-US" sz="1280" b="1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indent="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28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通过语义关系建模，识别未见类别的Topic</a:t>
            </a:r>
            <a:endParaRPr lang="zh-CN" altLang="en-US" sz="1280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indent="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28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利用知识迁移，将已知类别知识应用到未知类别</a:t>
            </a:r>
            <a:endParaRPr lang="zh-CN" altLang="en-US" sz="1280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indent="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28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在NLP领域有较多应用，但在仓库Topic生成中应用较少</a:t>
            </a:r>
            <a:endParaRPr lang="zh-CN" altLang="en-US" sz="1280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Char char="•"/>
            </a:pPr>
            <a:r>
              <a:rPr lang="zh-CN" altLang="en-US" sz="1280" b="1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研究空白：</a:t>
            </a:r>
            <a:endParaRPr lang="zh-CN" altLang="en-US" sz="1280" b="1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Char char="•"/>
            </a:pPr>
            <a:r>
              <a:rPr lang="zh-CN" altLang="en-US" sz="128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目前缺乏针对GitHub仓库特性的专用Topic生成</a:t>
            </a:r>
            <a:r>
              <a:rPr lang="en-US" altLang="zh-CN" sz="128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LLM</a:t>
            </a:r>
            <a:r>
              <a:rPr lang="zh-CN" altLang="en-US" sz="128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框架</a:t>
            </a:r>
            <a:endParaRPr lang="zh-CN" altLang="en-US" sz="1280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矩形 46"/>
          <p:cNvSpPr>
            <a:spLocks noChangeArrowheads="1"/>
          </p:cNvSpPr>
          <p:nvPr/>
        </p:nvSpPr>
        <p:spPr bwMode="auto">
          <a:xfrm>
            <a:off x="401955" y="850265"/>
            <a:ext cx="2746375" cy="440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noAutofit/>
          </a:bodyPr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l">
              <a:buNone/>
            </a:pPr>
            <a:r>
              <a:rPr sz="1800" b="1" dirty="0" err="1">
                <a:solidFill>
                  <a:schemeClr val="bg1"/>
                </a:solidFill>
              </a:rPr>
              <a:t>OpenDigger标签管理现状与挑战</a:t>
            </a:r>
            <a:endParaRPr sz="1800" b="1" dirty="0" err="1">
              <a:solidFill>
                <a:schemeClr val="bg1"/>
              </a:solidFill>
            </a:endParaRPr>
          </a:p>
        </p:txBody>
      </p:sp>
      <p:sp>
        <p:nvSpPr>
          <p:cNvPr id="25" name="矩形 46"/>
          <p:cNvSpPr>
            <a:spLocks noChangeArrowheads="1"/>
          </p:cNvSpPr>
          <p:nvPr/>
        </p:nvSpPr>
        <p:spPr bwMode="auto">
          <a:xfrm>
            <a:off x="4739640" y="857885"/>
            <a:ext cx="2746375" cy="440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noAutofit/>
          </a:bodyPr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l">
              <a:buNone/>
            </a:pPr>
            <a:r>
              <a:rPr sz="18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GitHub仓库Topic生成研究现状</a:t>
            </a:r>
            <a:endParaRPr sz="1800" b="1" dirty="0" err="1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梯形 34"/>
          <p:cNvSpPr/>
          <p:nvPr/>
        </p:nvSpPr>
        <p:spPr>
          <a:xfrm rot="16200000">
            <a:off x="5584648" y="-338488"/>
            <a:ext cx="1718803" cy="5399903"/>
          </a:xfrm>
          <a:prstGeom prst="trapezoid">
            <a:avLst>
              <a:gd name="adj" fmla="val 16935"/>
            </a:avLst>
          </a:prstGeom>
          <a:solidFill>
            <a:srgbClr val="A41C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37" name="梯形 36"/>
          <p:cNvSpPr/>
          <p:nvPr/>
        </p:nvSpPr>
        <p:spPr>
          <a:xfrm rot="5400000">
            <a:off x="998730" y="477602"/>
            <a:ext cx="1758050" cy="3755509"/>
          </a:xfrm>
          <a:prstGeom prst="trapezoid">
            <a:avLst>
              <a:gd name="adj" fmla="val 17865"/>
            </a:avLst>
          </a:prstGeom>
          <a:solidFill>
            <a:srgbClr val="E1DEC9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27" name="文本框 2"/>
          <p:cNvSpPr txBox="1"/>
          <p:nvPr/>
        </p:nvSpPr>
        <p:spPr>
          <a:xfrm>
            <a:off x="2796809" y="1917123"/>
            <a:ext cx="864870" cy="899160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</a:rPr>
              <a:t>Part</a:t>
            </a:r>
            <a:r>
              <a:rPr lang="en-US" altLang="zh-CN" sz="5400" b="1" dirty="0">
                <a:solidFill>
                  <a:schemeClr val="bg1"/>
                </a:solidFill>
              </a:rPr>
              <a:t>2</a:t>
            </a:r>
            <a:endParaRPr lang="zh-CN" altLang="en-US" sz="5400" b="1" dirty="0">
              <a:solidFill>
                <a:schemeClr val="bg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755380" y="2075425"/>
            <a:ext cx="3800475" cy="560705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1"/>
                </a:solidFill>
                <a:sym typeface="微软雅黑" panose="020B0503020204020204" pitchFamily="34" charset="-122"/>
              </a:rPr>
              <a:t>研究方法与</a:t>
            </a:r>
            <a:r>
              <a:rPr lang="zh-CN" altLang="en-US" sz="3200" b="1" dirty="0">
                <a:solidFill>
                  <a:schemeClr val="bg1"/>
                </a:solidFill>
                <a:sym typeface="微软雅黑" panose="020B0503020204020204" pitchFamily="34" charset="-122"/>
              </a:rPr>
              <a:t>实验方案</a:t>
            </a:r>
            <a:endParaRPr lang="zh-CN" altLang="en-US" sz="3200" b="1" dirty="0">
              <a:solidFill>
                <a:schemeClr val="bg1"/>
              </a:solidFill>
              <a:sym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756" b="82622"/>
          <a:stretch>
            <a:fillRect/>
          </a:stretch>
        </p:blipFill>
        <p:spPr>
          <a:xfrm>
            <a:off x="-48130" y="889463"/>
            <a:ext cx="3198999" cy="19279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rgbClr val="A41C34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9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3" name="矩形 46"/>
          <p:cNvSpPr>
            <a:spLocks noChangeArrowheads="1"/>
          </p:cNvSpPr>
          <p:nvPr/>
        </p:nvSpPr>
        <p:spPr bwMode="auto">
          <a:xfrm>
            <a:off x="476188" y="149489"/>
            <a:ext cx="3541395" cy="459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l">
              <a:buNone/>
            </a:pPr>
            <a:r>
              <a:rPr lang="zh-CN" altLang="en-US" sz="2400" b="1" dirty="0" err="1"/>
              <a:t>二</a:t>
            </a:r>
            <a:r>
              <a:rPr lang="en-US" altLang="zh-CN" sz="2400" b="1" dirty="0" err="1"/>
              <a:t>、</a:t>
            </a:r>
            <a:r>
              <a:rPr lang="zh-CN" altLang="en-US" sz="2400" b="1" dirty="0" err="1"/>
              <a:t>研究方法与实验</a:t>
            </a:r>
            <a:r>
              <a:rPr lang="zh-CN" altLang="en-US" sz="2400" b="1" dirty="0" err="1"/>
              <a:t>方案</a:t>
            </a:r>
            <a:endParaRPr lang="zh-CN" altLang="en-US" sz="2400" b="1" dirty="0" err="1"/>
          </a:p>
        </p:txBody>
      </p:sp>
      <p:pic>
        <p:nvPicPr>
          <p:cNvPr id="5" name="图片 4" descr="topic-ge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045" y="1901190"/>
            <a:ext cx="7150100" cy="298005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38760" y="698500"/>
            <a:ext cx="8666480" cy="1050925"/>
          </a:xfrm>
          <a:prstGeom prst="rect">
            <a:avLst/>
          </a:prstGeom>
        </p:spPr>
        <p:txBody>
          <a:bodyPr wrap="square">
            <a:spAutoFit/>
          </a:bodyPr>
          <a:p>
            <a:pPr indent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/>
              <a:t>self-tag方法是一种</a:t>
            </a:r>
            <a:r>
              <a:rPr sz="1600">
                <a:solidFill>
                  <a:srgbClr val="C00000"/>
                </a:solidFill>
              </a:rPr>
              <a:t>零样本（Zero-Shot）</a:t>
            </a:r>
            <a:r>
              <a:rPr sz="1600"/>
              <a:t>Prompt-First 主题推荐框架，从输入预处理、信息密度计算、关键句抽取与摘要、多 Prompt 并行推理、主题标准化，到最终的标签聚合与去重。整个流程无需任何模型微调，并可在大规模项目上高效运行。</a:t>
            </a:r>
            <a:r>
              <a:rPr lang="zh-CN" sz="1600"/>
              <a:t>具体</a:t>
            </a:r>
            <a:r>
              <a:rPr lang="zh-CN" sz="1600"/>
              <a:t>框架如下图</a:t>
            </a:r>
            <a:r>
              <a:rPr lang="zh-CN" sz="1600"/>
              <a:t>所示</a:t>
            </a:r>
            <a:endParaRPr lang="zh-CN"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rgbClr val="A41C34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9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3" name="矩形 46"/>
          <p:cNvSpPr>
            <a:spLocks noChangeArrowheads="1"/>
          </p:cNvSpPr>
          <p:nvPr/>
        </p:nvSpPr>
        <p:spPr bwMode="auto">
          <a:xfrm>
            <a:off x="476188" y="149489"/>
            <a:ext cx="3541395" cy="459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l">
              <a:buNone/>
            </a:pPr>
            <a:r>
              <a:rPr lang="zh-CN" altLang="en-US" sz="2400" b="1" dirty="0" err="1"/>
              <a:t>二</a:t>
            </a:r>
            <a:r>
              <a:rPr lang="en-US" altLang="zh-CN" sz="2400" b="1" dirty="0" err="1"/>
              <a:t>、</a:t>
            </a:r>
            <a:r>
              <a:rPr lang="zh-CN" altLang="en-US" sz="2400" b="1" dirty="0" err="1"/>
              <a:t>研究方法与实验</a:t>
            </a:r>
            <a:r>
              <a:rPr lang="zh-CN" altLang="en-US" sz="2400" b="1" dirty="0" err="1"/>
              <a:t>方案</a:t>
            </a:r>
            <a:endParaRPr lang="zh-CN" altLang="en-US" sz="2400" b="1" dirty="0" err="1"/>
          </a:p>
        </p:txBody>
      </p:sp>
      <p:pic>
        <p:nvPicPr>
          <p:cNvPr id="5" name="图片 4" descr="topic-ge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7525" y="707390"/>
            <a:ext cx="5374640" cy="224028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86385" y="3046730"/>
            <a:ext cx="4285615" cy="215836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/>
              <a:t>整体流程可划分为六大模块：</a:t>
            </a:r>
            <a:endParaRPr lang="zh-CN" altLang="en-US"/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zh-CN" altLang="en-US">
                <a:solidFill>
                  <a:srgbClr val="C00000"/>
                </a:solidFill>
              </a:rPr>
              <a:t>输入预处理：</a:t>
            </a:r>
            <a:r>
              <a:rPr lang="zh-CN" altLang="en-US"/>
              <a:t>清洗并结构化仓库描述与 </a:t>
            </a:r>
            <a:r>
              <a:rPr lang="en-US" altLang="zh-CN"/>
              <a:t>README</a:t>
            </a:r>
            <a:r>
              <a:rPr lang="zh-CN" altLang="en-US"/>
              <a:t>；</a:t>
            </a:r>
            <a:endParaRPr lang="zh-CN" altLang="en-US"/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zh-CN" altLang="en-US">
                <a:solidFill>
                  <a:srgbClr val="C00000"/>
                </a:solidFill>
              </a:rPr>
              <a:t>信息密度计算：</a:t>
            </a:r>
            <a:r>
              <a:rPr lang="zh-CN" altLang="en-US"/>
              <a:t>为文本中每个句子打分，筛选高信息量内容；</a:t>
            </a:r>
            <a:endParaRPr lang="zh-CN" altLang="en-US"/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zh-CN" altLang="en-US">
                <a:solidFill>
                  <a:srgbClr val="C00000"/>
                </a:solidFill>
              </a:rPr>
              <a:t>关键句抽取与摘要：</a:t>
            </a:r>
            <a:r>
              <a:rPr lang="zh-CN" altLang="en-US"/>
              <a:t>提取重要句子，并用 </a:t>
            </a:r>
            <a:r>
              <a:rPr lang="en-US" altLang="zh-CN"/>
              <a:t>LLM </a:t>
            </a:r>
            <a:r>
              <a:rPr lang="zh-CN" altLang="en-US"/>
              <a:t>生成简明摘要；</a:t>
            </a:r>
            <a:endParaRPr lang="zh-CN" altLang="en-US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572000" y="3305175"/>
            <a:ext cx="4205605" cy="16414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 startAt="4"/>
            </a:pPr>
            <a:r>
              <a:rPr lang="zh-CN" altLang="en-US">
                <a:solidFill>
                  <a:srgbClr val="C00000"/>
                </a:solidFill>
                <a:sym typeface="+mn-ea"/>
              </a:rPr>
              <a:t>多 </a:t>
            </a:r>
            <a:r>
              <a:rPr lang="en-US" altLang="zh-CN">
                <a:solidFill>
                  <a:srgbClr val="C00000"/>
                </a:solidFill>
                <a:sym typeface="+mn-ea"/>
              </a:rPr>
              <a:t>Prompt </a:t>
            </a:r>
            <a:r>
              <a:rPr lang="zh-CN" altLang="en-US">
                <a:solidFill>
                  <a:srgbClr val="C00000"/>
                </a:solidFill>
                <a:sym typeface="+mn-ea"/>
              </a:rPr>
              <a:t>并行推理：</a:t>
            </a:r>
            <a:r>
              <a:rPr lang="zh-CN" altLang="en-US">
                <a:sym typeface="+mn-ea"/>
              </a:rPr>
              <a:t>构建多路 </a:t>
            </a:r>
            <a:r>
              <a:rPr lang="en-US" altLang="zh-CN">
                <a:sym typeface="+mn-ea"/>
              </a:rPr>
              <a:t>Prompt</a:t>
            </a:r>
            <a:r>
              <a:rPr lang="zh-CN" altLang="en-US">
                <a:sym typeface="+mn-ea"/>
              </a:rPr>
              <a:t>，分别从不同视角获取原始主题候选；</a:t>
            </a:r>
            <a:endParaRPr lang="zh-CN" altLang="en-US"/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 startAt="4"/>
            </a:pPr>
            <a:r>
              <a:rPr lang="zh-CN" altLang="en-US">
                <a:solidFill>
                  <a:srgbClr val="C00000"/>
                </a:solidFill>
                <a:sym typeface="+mn-ea"/>
              </a:rPr>
              <a:t>主题标准化：</a:t>
            </a:r>
            <a:r>
              <a:rPr lang="zh-CN" altLang="en-US">
                <a:sym typeface="+mn-ea"/>
              </a:rPr>
              <a:t>消除大小写、复数、符号等变体带来的冗余；</a:t>
            </a:r>
            <a:endParaRPr lang="zh-CN" altLang="en-US"/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 startAt="4"/>
            </a:pPr>
            <a:r>
              <a:rPr lang="zh-CN" altLang="en-US">
                <a:solidFill>
                  <a:srgbClr val="C00000"/>
                </a:solidFill>
                <a:sym typeface="+mn-ea"/>
              </a:rPr>
              <a:t>标签聚合与去重：</a:t>
            </a:r>
            <a:r>
              <a:rPr lang="zh-CN" altLang="en-US">
                <a:sym typeface="+mn-ea"/>
              </a:rPr>
              <a:t>基于投票机制选取最终 </a:t>
            </a:r>
            <a:r>
              <a:rPr lang="en-US" altLang="zh-CN">
                <a:sym typeface="+mn-ea"/>
              </a:rPr>
              <a:t>Top-K </a:t>
            </a:r>
            <a:r>
              <a:rPr lang="zh-CN" altLang="en-US">
                <a:sym typeface="+mn-ea"/>
              </a:rPr>
              <a:t>主题。</a:t>
            </a:r>
            <a:endParaRPr lang="zh-CN" altLang="en-US" sz="1400" dirty="0" smtClean="0">
              <a:latin typeface="Arial" panose="020B0604020202090204" pitchFamily="34" charset="0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rgbClr val="A41C34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9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3" name="矩形 46"/>
          <p:cNvSpPr>
            <a:spLocks noChangeArrowheads="1"/>
          </p:cNvSpPr>
          <p:nvPr/>
        </p:nvSpPr>
        <p:spPr bwMode="auto">
          <a:xfrm>
            <a:off x="476188" y="149489"/>
            <a:ext cx="3541395" cy="459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l">
              <a:buNone/>
            </a:pPr>
            <a:r>
              <a:rPr lang="zh-CN" altLang="en-US" sz="2400" b="1" dirty="0" err="1"/>
              <a:t>二</a:t>
            </a:r>
            <a:r>
              <a:rPr lang="en-US" altLang="zh-CN" sz="2400" b="1" dirty="0" err="1"/>
              <a:t>、</a:t>
            </a:r>
            <a:r>
              <a:rPr lang="zh-CN" altLang="en-US" sz="2400" b="1" dirty="0" err="1"/>
              <a:t>研究方法与实验</a:t>
            </a:r>
            <a:r>
              <a:rPr lang="zh-CN" altLang="en-US" sz="2400" b="1" dirty="0" err="1"/>
              <a:t>方案</a:t>
            </a:r>
            <a:endParaRPr lang="zh-CN" altLang="en-US" sz="2400" b="1" dirty="0" err="1"/>
          </a:p>
        </p:txBody>
      </p:sp>
      <p:pic>
        <p:nvPicPr>
          <p:cNvPr id="7" name="图片 6" descr="label-proces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58105" y="608330"/>
            <a:ext cx="3536950" cy="401955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89230" y="1638300"/>
            <a:ext cx="4843780" cy="1198880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"/>
            </a:pPr>
            <a:r>
              <a:rPr lang="zh-CN" altLang="en-US" sz="1600" b="0" i="0">
                <a:solidFill>
                  <a:srgbClr val="1D1D1F"/>
                </a:solidFill>
                <a:latin typeface="system-ui"/>
                <a:ea typeface="system-ui"/>
              </a:rPr>
              <a:t>先由 </a:t>
            </a:r>
            <a:r>
              <a:rPr lang="en-US" altLang="zh-CN" sz="1600" b="0" i="0">
                <a:solidFill>
                  <a:srgbClr val="1D1D1F"/>
                </a:solidFill>
                <a:latin typeface="system-ui"/>
                <a:ea typeface="system-ui"/>
              </a:rPr>
              <a:t>LLM </a:t>
            </a:r>
            <a:r>
              <a:rPr lang="zh-CN" altLang="en-US" sz="1600" b="0" i="0">
                <a:solidFill>
                  <a:srgbClr val="1D1D1F"/>
                </a:solidFill>
                <a:latin typeface="system-ui"/>
                <a:ea typeface="system-ui"/>
              </a:rPr>
              <a:t>为各技术领域生成关键词库</a:t>
            </a:r>
            <a:endParaRPr lang="zh-CN" altLang="en-US" sz="1600" b="0" i="0">
              <a:solidFill>
                <a:srgbClr val="1D1D1F"/>
              </a:solidFill>
              <a:latin typeface="system-ui"/>
              <a:ea typeface="system-ui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"/>
            </a:pPr>
            <a:r>
              <a:rPr lang="zh-CN" altLang="en-US" sz="1600" b="0" i="0">
                <a:solidFill>
                  <a:srgbClr val="1D1D1F"/>
                </a:solidFill>
                <a:latin typeface="system-ui"/>
                <a:ea typeface="system-ui"/>
              </a:rPr>
              <a:t>将 </a:t>
            </a:r>
            <a:r>
              <a:rPr lang="en-US" altLang="zh-CN" sz="1600" b="0" i="0">
                <a:solidFill>
                  <a:srgbClr val="1D1D1F"/>
                </a:solidFill>
                <a:latin typeface="system-ui"/>
                <a:ea typeface="system-ui"/>
              </a:rPr>
              <a:t>Self-Tag </a:t>
            </a:r>
            <a:r>
              <a:rPr lang="zh-CN" altLang="en-US" sz="1600" b="0" i="0">
                <a:solidFill>
                  <a:srgbClr val="1D1D1F"/>
                </a:solidFill>
                <a:latin typeface="system-ui"/>
                <a:ea typeface="system-ui"/>
              </a:rPr>
              <a:t>生成的 </a:t>
            </a:r>
            <a:r>
              <a:rPr lang="en-US" altLang="zh-CN" sz="1600" b="0" i="0">
                <a:solidFill>
                  <a:srgbClr val="1D1D1F"/>
                </a:solidFill>
                <a:latin typeface="system-ui"/>
                <a:ea typeface="system-ui"/>
              </a:rPr>
              <a:t>Topic </a:t>
            </a:r>
            <a:r>
              <a:rPr lang="zh-CN" altLang="en-US" sz="1600" b="0" i="0">
                <a:solidFill>
                  <a:srgbClr val="1D1D1F"/>
                </a:solidFill>
                <a:latin typeface="system-ui"/>
                <a:ea typeface="system-ui"/>
              </a:rPr>
              <a:t>与关键词库匹配</a:t>
            </a:r>
            <a:endParaRPr lang="zh-CN" altLang="en-US" sz="1600" b="0" i="0">
              <a:solidFill>
                <a:srgbClr val="1D1D1F"/>
              </a:solidFill>
              <a:latin typeface="system-ui"/>
              <a:ea typeface="system-ui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"/>
            </a:pPr>
            <a:r>
              <a:rPr lang="zh-CN" altLang="en-US" sz="1600" b="0" i="0">
                <a:solidFill>
                  <a:srgbClr val="1D1D1F"/>
                </a:solidFill>
                <a:latin typeface="system-ui"/>
                <a:ea typeface="system-ui"/>
              </a:rPr>
              <a:t>匹配成功则赋予对应技术标签，完成结构化扩展</a:t>
            </a:r>
            <a:endParaRPr lang="zh-CN" altLang="en-US" sz="1600" b="0" i="0">
              <a:solidFill>
                <a:srgbClr val="1D1D1F"/>
              </a:solidFill>
              <a:latin typeface="system-ui"/>
              <a:ea typeface="system-u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梯形 34"/>
          <p:cNvSpPr/>
          <p:nvPr/>
        </p:nvSpPr>
        <p:spPr>
          <a:xfrm rot="16200000">
            <a:off x="5584648" y="-338488"/>
            <a:ext cx="1718803" cy="5399903"/>
          </a:xfrm>
          <a:prstGeom prst="trapezoid">
            <a:avLst>
              <a:gd name="adj" fmla="val 16935"/>
            </a:avLst>
          </a:prstGeom>
          <a:solidFill>
            <a:srgbClr val="A41C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37" name="梯形 36"/>
          <p:cNvSpPr/>
          <p:nvPr/>
        </p:nvSpPr>
        <p:spPr>
          <a:xfrm rot="5400000">
            <a:off x="998730" y="477602"/>
            <a:ext cx="1758050" cy="3755509"/>
          </a:xfrm>
          <a:prstGeom prst="trapezoid">
            <a:avLst>
              <a:gd name="adj" fmla="val 17865"/>
            </a:avLst>
          </a:prstGeom>
          <a:solidFill>
            <a:srgbClr val="E1DEC9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27" name="文本框 2"/>
          <p:cNvSpPr txBox="1"/>
          <p:nvPr/>
        </p:nvSpPr>
        <p:spPr>
          <a:xfrm>
            <a:off x="2796809" y="1917123"/>
            <a:ext cx="864870" cy="899160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</a:rPr>
              <a:t>Part</a:t>
            </a:r>
            <a:r>
              <a:rPr lang="en-US" altLang="zh-CN" sz="5400" b="1" dirty="0">
                <a:solidFill>
                  <a:schemeClr val="bg1"/>
                </a:solidFill>
              </a:rPr>
              <a:t>3</a:t>
            </a:r>
            <a:endParaRPr lang="zh-CN" altLang="en-US" sz="5400" b="1" dirty="0">
              <a:solidFill>
                <a:schemeClr val="bg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755380" y="2075425"/>
            <a:ext cx="2172335" cy="560705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1"/>
                </a:solidFill>
                <a:sym typeface="微软雅黑" panose="020B0503020204020204" pitchFamily="34" charset="-122"/>
              </a:rPr>
              <a:t>数据集</a:t>
            </a:r>
            <a:r>
              <a:rPr lang="zh-CN" altLang="en-US" sz="3200" b="1" dirty="0">
                <a:solidFill>
                  <a:schemeClr val="bg1"/>
                </a:solidFill>
                <a:sym typeface="微软雅黑" panose="020B0503020204020204" pitchFamily="34" charset="-122"/>
              </a:rPr>
              <a:t>构建</a:t>
            </a:r>
            <a:endParaRPr lang="zh-CN" altLang="en-US" sz="3200" b="1" dirty="0">
              <a:solidFill>
                <a:schemeClr val="bg1"/>
              </a:solidFill>
              <a:sym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756" b="82622"/>
          <a:stretch>
            <a:fillRect/>
          </a:stretch>
        </p:blipFill>
        <p:spPr>
          <a:xfrm>
            <a:off x="-48130" y="889463"/>
            <a:ext cx="3198999" cy="192790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rgbClr val="A41C34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9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3" name="矩形 46"/>
          <p:cNvSpPr>
            <a:spLocks noChangeArrowheads="1"/>
          </p:cNvSpPr>
          <p:nvPr/>
        </p:nvSpPr>
        <p:spPr bwMode="auto">
          <a:xfrm>
            <a:off x="476188" y="149489"/>
            <a:ext cx="2319655" cy="459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l">
              <a:buNone/>
            </a:pPr>
            <a:r>
              <a:rPr lang="zh-CN" altLang="en-US" sz="2400" b="1" dirty="0" err="1"/>
              <a:t>三</a:t>
            </a:r>
            <a:r>
              <a:rPr lang="en-US" altLang="zh-CN" sz="2400" b="1" dirty="0" err="1"/>
              <a:t>、</a:t>
            </a:r>
            <a:r>
              <a:rPr lang="zh-CN" altLang="en-US" sz="2400" b="1" dirty="0" err="1"/>
              <a:t>数据集</a:t>
            </a:r>
            <a:r>
              <a:rPr lang="zh-CN" altLang="en-US" sz="2400" b="1" dirty="0" err="1"/>
              <a:t>构建</a:t>
            </a:r>
            <a:endParaRPr lang="zh-CN" altLang="en-US" sz="2400" b="1" dirty="0" err="1"/>
          </a:p>
        </p:txBody>
      </p:sp>
      <p:pic>
        <p:nvPicPr>
          <p:cNvPr id="2" name="图片 1" descr="data-proces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040" y="518160"/>
            <a:ext cx="7591425" cy="173355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01930" y="2394585"/>
            <a:ext cx="2189480" cy="2294890"/>
          </a:xfrm>
          <a:prstGeom prst="rect">
            <a:avLst/>
          </a:prstGeom>
          <a:ln w="19050" cmpd="sng">
            <a:solidFill>
              <a:schemeClr val="accent1">
                <a:shade val="50000"/>
              </a:schemeClr>
            </a:solidFill>
            <a:prstDash val="sysDash"/>
          </a:ln>
        </p:spPr>
        <p:txBody>
          <a:bodyPr wrap="square">
            <a:noAutofit/>
          </a:bodyPr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90204"/>
              <a:buChar char="•"/>
            </a:pPr>
            <a:r>
              <a:rPr lang="zh-CN" altLang="en-US" b="0" i="0">
                <a:solidFill>
                  <a:srgbClr val="1D1D1F"/>
                </a:solidFill>
                <a:latin typeface="system-ui"/>
                <a:ea typeface="system-ui"/>
              </a:rPr>
              <a:t>基于 </a:t>
            </a:r>
            <a:r>
              <a:rPr lang="en-US" altLang="zh-CN" b="0" i="0">
                <a:solidFill>
                  <a:srgbClr val="1D1D1F"/>
                </a:solidFill>
                <a:latin typeface="system-ui"/>
                <a:ea typeface="system-ui"/>
              </a:rPr>
              <a:t>OpenRank </a:t>
            </a:r>
            <a:r>
              <a:rPr lang="zh-CN" altLang="en-US" b="0" i="0">
                <a:solidFill>
                  <a:srgbClr val="1D1D1F"/>
                </a:solidFill>
                <a:latin typeface="system-ui"/>
                <a:ea typeface="system-ui"/>
              </a:rPr>
              <a:t>指标筛选 </a:t>
            </a:r>
            <a:r>
              <a:rPr lang="en-US" altLang="zh-CN" b="0" i="0">
                <a:solidFill>
                  <a:srgbClr val="1D1D1F"/>
                </a:solidFill>
                <a:latin typeface="system-ui"/>
                <a:ea typeface="system-ui"/>
              </a:rPr>
              <a:t>GitHub 2024 </a:t>
            </a:r>
            <a:r>
              <a:rPr lang="zh-CN" altLang="en-US" b="0" i="0">
                <a:solidFill>
                  <a:srgbClr val="1D1D1F"/>
                </a:solidFill>
                <a:latin typeface="system-ui"/>
                <a:ea typeface="system-ui"/>
              </a:rPr>
              <a:t>年活跃度 </a:t>
            </a:r>
            <a:r>
              <a:rPr lang="en-US" altLang="zh-CN" b="0" i="0">
                <a:solidFill>
                  <a:srgbClr val="1D1D1F"/>
                </a:solidFill>
                <a:latin typeface="system-ui"/>
                <a:ea typeface="system-ui"/>
              </a:rPr>
              <a:t>Top 3000 </a:t>
            </a:r>
            <a:r>
              <a:rPr lang="zh-CN" altLang="en-US" b="0" i="0">
                <a:solidFill>
                  <a:srgbClr val="1D1D1F"/>
                </a:solidFill>
                <a:latin typeface="system-ui"/>
                <a:ea typeface="system-ui"/>
              </a:rPr>
              <a:t>项目</a:t>
            </a:r>
            <a:endParaRPr lang="zh-CN" altLang="en-US" b="0" i="0">
              <a:solidFill>
                <a:srgbClr val="1D1D1F"/>
              </a:solidFill>
              <a:latin typeface="system-ui"/>
              <a:ea typeface="system-ui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90204"/>
              <a:buChar char="•"/>
            </a:pPr>
            <a:r>
              <a:rPr lang="zh-CN" altLang="en-US" b="0" i="0">
                <a:solidFill>
                  <a:srgbClr val="1D1D1F"/>
                </a:solidFill>
                <a:latin typeface="system-ui"/>
                <a:ea typeface="system-ui"/>
              </a:rPr>
              <a:t>采集仓库名称、描述、</a:t>
            </a:r>
            <a:r>
              <a:rPr lang="en-US" altLang="zh-CN" b="0" i="0">
                <a:solidFill>
                  <a:srgbClr val="1D1D1F"/>
                </a:solidFill>
                <a:latin typeface="system-ui"/>
                <a:ea typeface="system-ui"/>
              </a:rPr>
              <a:t>README </a:t>
            </a:r>
            <a:r>
              <a:rPr lang="zh-CN" altLang="en-US" b="0" i="0">
                <a:solidFill>
                  <a:srgbClr val="1D1D1F"/>
                </a:solidFill>
                <a:latin typeface="system-ui"/>
                <a:ea typeface="system-ui"/>
              </a:rPr>
              <a:t>和已有标签</a:t>
            </a:r>
            <a:endParaRPr lang="zh-CN" altLang="en-US" b="0" i="0">
              <a:solidFill>
                <a:srgbClr val="1D1D1F"/>
              </a:solidFill>
              <a:latin typeface="system-ui"/>
              <a:ea typeface="system-ui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90204"/>
              <a:buChar char="•"/>
            </a:pPr>
            <a:r>
              <a:rPr lang="zh-CN" altLang="en-US" b="0" i="0">
                <a:solidFill>
                  <a:srgbClr val="1D1D1F"/>
                </a:solidFill>
                <a:latin typeface="system-ui"/>
                <a:ea typeface="system-ui"/>
              </a:rPr>
              <a:t>对 </a:t>
            </a:r>
            <a:r>
              <a:rPr lang="en-US" altLang="zh-CN" b="0" i="0">
                <a:solidFill>
                  <a:srgbClr val="1D1D1F"/>
                </a:solidFill>
                <a:latin typeface="system-ui"/>
                <a:ea typeface="system-ui"/>
              </a:rPr>
              <a:t>README </a:t>
            </a:r>
            <a:r>
              <a:rPr lang="zh-CN" altLang="en-US" b="0" i="0">
                <a:solidFill>
                  <a:srgbClr val="1D1D1F"/>
                </a:solidFill>
                <a:latin typeface="system-ui"/>
                <a:ea typeface="system-ui"/>
              </a:rPr>
              <a:t>动态截断，适配 </a:t>
            </a:r>
            <a:r>
              <a:rPr lang="en-US" altLang="zh-CN" b="0" i="0">
                <a:solidFill>
                  <a:srgbClr val="1D1D1F"/>
                </a:solidFill>
                <a:latin typeface="system-ui"/>
                <a:ea typeface="system-ui"/>
              </a:rPr>
              <a:t>LLM </a:t>
            </a:r>
            <a:r>
              <a:rPr lang="zh-CN" altLang="en-US" b="0" i="0">
                <a:solidFill>
                  <a:srgbClr val="1D1D1F"/>
                </a:solidFill>
                <a:latin typeface="system-ui"/>
                <a:ea typeface="system-ui"/>
              </a:rPr>
              <a:t>上下文长度限制</a:t>
            </a:r>
            <a:endParaRPr lang="zh-CN" altLang="en-US" b="0" i="0">
              <a:solidFill>
                <a:srgbClr val="1D1D1F"/>
              </a:solidFill>
              <a:latin typeface="system-ui"/>
              <a:ea typeface="system-ui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658745" y="2394585"/>
            <a:ext cx="2205355" cy="2294890"/>
          </a:xfrm>
          <a:prstGeom prst="rect">
            <a:avLst/>
          </a:prstGeom>
          <a:ln w="19050" cmpd="sng">
            <a:solidFill>
              <a:schemeClr val="accent1">
                <a:shade val="50000"/>
              </a:schemeClr>
            </a:solidFill>
            <a:prstDash val="sysDash"/>
          </a:ln>
        </p:spPr>
        <p:txBody>
          <a:bodyPr wrap="square">
            <a:noAutofit/>
          </a:bodyPr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90204"/>
              <a:buChar char="•"/>
            </a:pPr>
            <a:r>
              <a:rPr lang="zh-CN" altLang="en-US" b="0" i="0">
                <a:solidFill>
                  <a:srgbClr val="1D1D1F"/>
                </a:solidFill>
                <a:latin typeface="system-ui"/>
                <a:ea typeface="system-ui"/>
              </a:rPr>
              <a:t>设计结构化 </a:t>
            </a:r>
            <a:r>
              <a:rPr lang="en-US" altLang="zh-CN" b="0" i="0">
                <a:solidFill>
                  <a:srgbClr val="1D1D1F"/>
                </a:solidFill>
                <a:latin typeface="system-ui"/>
                <a:ea typeface="system-ui"/>
              </a:rPr>
              <a:t>Prompt</a:t>
            </a:r>
            <a:r>
              <a:rPr lang="zh-CN" altLang="en-US" b="0" i="0">
                <a:solidFill>
                  <a:srgbClr val="1D1D1F"/>
                </a:solidFill>
                <a:latin typeface="system-ui"/>
                <a:ea typeface="system-ui"/>
              </a:rPr>
              <a:t>：明确任务目标、输入格式（项目信息）、输出格式</a:t>
            </a:r>
            <a:endParaRPr lang="zh-CN" altLang="en-US" b="0" i="0">
              <a:solidFill>
                <a:srgbClr val="1D1D1F"/>
              </a:solidFill>
              <a:latin typeface="system-ui"/>
              <a:ea typeface="system-ui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90204"/>
              <a:buChar char="•"/>
            </a:pPr>
            <a:r>
              <a:rPr lang="zh-CN" altLang="en-US" b="0" i="0">
                <a:solidFill>
                  <a:srgbClr val="1D1D1F"/>
                </a:solidFill>
                <a:latin typeface="system-ui"/>
                <a:ea typeface="system-ui"/>
              </a:rPr>
              <a:t>遵循 </a:t>
            </a:r>
            <a:r>
              <a:rPr lang="en-US" altLang="zh-CN" b="0" i="0">
                <a:solidFill>
                  <a:srgbClr val="1D1D1F"/>
                </a:solidFill>
                <a:latin typeface="system-ui"/>
                <a:ea typeface="system-ui"/>
              </a:rPr>
              <a:t>GitHub Topic </a:t>
            </a:r>
            <a:r>
              <a:rPr lang="zh-CN" altLang="en-US" b="0" i="0">
                <a:solidFill>
                  <a:srgbClr val="1D1D1F"/>
                </a:solidFill>
                <a:latin typeface="system-ui"/>
                <a:ea typeface="system-ui"/>
              </a:rPr>
              <a:t>规范（小写、连字符）</a:t>
            </a:r>
            <a:endParaRPr lang="zh-CN" altLang="en-US" b="0" i="0">
              <a:solidFill>
                <a:srgbClr val="1D1D1F"/>
              </a:solidFill>
              <a:latin typeface="system-ui"/>
              <a:ea typeface="system-ui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90204"/>
              <a:buChar char="•"/>
            </a:pPr>
            <a:r>
              <a:rPr lang="zh-CN" altLang="en-US" b="0" i="0">
                <a:solidFill>
                  <a:srgbClr val="1D1D1F"/>
                </a:solidFill>
                <a:latin typeface="system-ui"/>
                <a:ea typeface="system-ui"/>
              </a:rPr>
              <a:t>通过 </a:t>
            </a:r>
            <a:r>
              <a:rPr lang="en-US" altLang="zh-CN" b="0" i="0">
                <a:solidFill>
                  <a:srgbClr val="1D1D1F"/>
                </a:solidFill>
                <a:latin typeface="system-ui"/>
                <a:ea typeface="system-ui"/>
              </a:rPr>
              <a:t>OpenAI SDK </a:t>
            </a:r>
            <a:r>
              <a:rPr lang="zh-CN" altLang="en-US" b="0" i="0">
                <a:solidFill>
                  <a:srgbClr val="1D1D1F"/>
                </a:solidFill>
                <a:latin typeface="system-ui"/>
                <a:ea typeface="system-ui"/>
              </a:rPr>
              <a:t>验证接口可用性，并切分数据集以支持并发</a:t>
            </a:r>
            <a:endParaRPr lang="zh-CN" altLang="en-US" b="0" i="0">
              <a:solidFill>
                <a:srgbClr val="1D1D1F"/>
              </a:solidFill>
              <a:latin typeface="system-ui"/>
              <a:ea typeface="system-ui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991735" y="2404110"/>
            <a:ext cx="1783715" cy="2285365"/>
          </a:xfrm>
          <a:prstGeom prst="rect">
            <a:avLst/>
          </a:prstGeom>
          <a:ln w="19050" cmpd="sng">
            <a:solidFill>
              <a:schemeClr val="accent1">
                <a:shade val="50000"/>
              </a:schemeClr>
            </a:solidFill>
            <a:prstDash val="sysDash"/>
          </a:ln>
        </p:spPr>
        <p:txBody>
          <a:bodyPr wrap="square">
            <a:noAutofit/>
          </a:bodyPr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90204"/>
              <a:buChar char="•"/>
            </a:pPr>
            <a:r>
              <a:rPr lang="zh-CN" altLang="en-US" b="0" i="0">
                <a:solidFill>
                  <a:srgbClr val="1D1D1F"/>
                </a:solidFill>
                <a:latin typeface="system-ui"/>
                <a:ea typeface="system-ui"/>
              </a:rPr>
              <a:t>采用 多线程 </a:t>
            </a:r>
            <a:r>
              <a:rPr lang="en-US" altLang="zh-CN" b="0" i="0">
                <a:solidFill>
                  <a:srgbClr val="1D1D1F"/>
                </a:solidFill>
                <a:latin typeface="system-ui"/>
                <a:ea typeface="system-ui"/>
              </a:rPr>
              <a:t>+ </a:t>
            </a:r>
            <a:r>
              <a:rPr lang="zh-CN" altLang="en-US" b="0" i="0">
                <a:solidFill>
                  <a:srgbClr val="1D1D1F"/>
                </a:solidFill>
                <a:latin typeface="system-ui"/>
                <a:ea typeface="system-ui"/>
              </a:rPr>
              <a:t>异步 </a:t>
            </a:r>
            <a:r>
              <a:rPr lang="en-US" altLang="zh-CN" b="0" i="0">
                <a:solidFill>
                  <a:srgbClr val="1D1D1F"/>
                </a:solidFill>
                <a:latin typeface="system-ui"/>
                <a:ea typeface="system-ui"/>
              </a:rPr>
              <a:t>I/O </a:t>
            </a:r>
            <a:r>
              <a:rPr lang="zh-CN" altLang="en-US" b="0" i="0">
                <a:solidFill>
                  <a:srgbClr val="1D1D1F"/>
                </a:solidFill>
                <a:latin typeface="system-ui"/>
                <a:ea typeface="system-ui"/>
              </a:rPr>
              <a:t>并发调用 </a:t>
            </a:r>
            <a:r>
              <a:rPr lang="en-US" altLang="zh-CN" b="0" i="0">
                <a:solidFill>
                  <a:srgbClr val="1D1D1F"/>
                </a:solidFill>
                <a:latin typeface="system-ui"/>
                <a:ea typeface="system-ui"/>
              </a:rPr>
              <a:t>LLM </a:t>
            </a:r>
            <a:r>
              <a:rPr lang="zh-CN" altLang="en-US" b="0" i="0">
                <a:solidFill>
                  <a:srgbClr val="1D1D1F"/>
                </a:solidFill>
                <a:latin typeface="system-ui"/>
                <a:ea typeface="system-ui"/>
              </a:rPr>
              <a:t>接口</a:t>
            </a:r>
            <a:endParaRPr lang="zh-CN" altLang="en-US" b="0" i="0">
              <a:solidFill>
                <a:srgbClr val="1D1D1F"/>
              </a:solidFill>
              <a:latin typeface="system-ui"/>
              <a:ea typeface="system-ui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90204"/>
              <a:buChar char="•"/>
            </a:pPr>
            <a:r>
              <a:rPr lang="zh-CN" altLang="en-US" b="0" i="0">
                <a:solidFill>
                  <a:srgbClr val="1D1D1F"/>
                </a:solidFill>
                <a:latin typeface="system-ui"/>
                <a:ea typeface="system-ui"/>
              </a:rPr>
              <a:t>高效完成大规模仓库的主题自动生成</a:t>
            </a:r>
            <a:endParaRPr lang="zh-CN" altLang="en-US" b="0" i="0">
              <a:solidFill>
                <a:srgbClr val="1D1D1F"/>
              </a:solidFill>
              <a:latin typeface="system-ui"/>
              <a:ea typeface="system-ui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923405" y="2404110"/>
            <a:ext cx="1788795" cy="2294255"/>
          </a:xfrm>
          <a:prstGeom prst="rect">
            <a:avLst/>
          </a:prstGeom>
          <a:ln w="19050" cmpd="sng">
            <a:solidFill>
              <a:schemeClr val="accent1">
                <a:shade val="50000"/>
              </a:schemeClr>
            </a:solidFill>
            <a:prstDash val="sysDash"/>
          </a:ln>
        </p:spPr>
        <p:txBody>
          <a:bodyPr wrap="square">
            <a:noAutofit/>
          </a:bodyPr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0" i="0">
                <a:solidFill>
                  <a:srgbClr val="1D1D1F"/>
                </a:solidFill>
                <a:latin typeface="system-ui"/>
                <a:ea typeface="system-ui"/>
              </a:rPr>
              <a:t>多维度指标：</a:t>
            </a:r>
            <a:endParaRPr lang="zh-CN" altLang="en-US" b="0" i="0">
              <a:solidFill>
                <a:srgbClr val="1D1D1F"/>
              </a:solidFill>
              <a:latin typeface="system-ui"/>
              <a:ea typeface="system-ui"/>
            </a:endParaRP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zh-CN" altLang="en-US" b="0" i="0">
                <a:solidFill>
                  <a:srgbClr val="1D1D1F"/>
                </a:solidFill>
                <a:latin typeface="system-ui"/>
                <a:ea typeface="system-ui"/>
              </a:rPr>
              <a:t>精确率（</a:t>
            </a:r>
            <a:r>
              <a:rPr lang="en-US" altLang="zh-CN" b="0" i="0">
                <a:solidFill>
                  <a:srgbClr val="1D1D1F"/>
                </a:solidFill>
                <a:latin typeface="system-ui"/>
                <a:ea typeface="system-ui"/>
              </a:rPr>
              <a:t>P</a:t>
            </a:r>
            <a:r>
              <a:rPr lang="zh-CN" altLang="en-US" b="0" i="0">
                <a:solidFill>
                  <a:srgbClr val="1D1D1F"/>
                </a:solidFill>
                <a:latin typeface="system-ui"/>
                <a:ea typeface="system-ui"/>
              </a:rPr>
              <a:t>）</a:t>
            </a:r>
            <a:endParaRPr lang="zh-CN" altLang="en-US" b="0" i="0">
              <a:solidFill>
                <a:srgbClr val="1D1D1F"/>
              </a:solidFill>
              <a:latin typeface="system-ui"/>
              <a:ea typeface="system-ui"/>
            </a:endParaRP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zh-CN" altLang="en-US" b="0" i="0">
                <a:solidFill>
                  <a:srgbClr val="1D1D1F"/>
                </a:solidFill>
                <a:latin typeface="system-ui"/>
                <a:ea typeface="system-ui"/>
              </a:rPr>
              <a:t>召回率（</a:t>
            </a:r>
            <a:r>
              <a:rPr lang="en-US" altLang="zh-CN" b="0" i="0">
                <a:solidFill>
                  <a:srgbClr val="1D1D1F"/>
                </a:solidFill>
                <a:latin typeface="system-ui"/>
                <a:ea typeface="system-ui"/>
              </a:rPr>
              <a:t>R</a:t>
            </a:r>
            <a:r>
              <a:rPr lang="zh-CN" altLang="en-US" b="0" i="0">
                <a:solidFill>
                  <a:srgbClr val="1D1D1F"/>
                </a:solidFill>
                <a:latin typeface="system-ui"/>
                <a:ea typeface="system-ui"/>
              </a:rPr>
              <a:t>）</a:t>
            </a:r>
            <a:endParaRPr lang="zh-CN" altLang="en-US" b="0" i="0">
              <a:solidFill>
                <a:srgbClr val="1D1D1F"/>
              </a:solidFill>
              <a:latin typeface="system-ui"/>
              <a:ea typeface="system-ui"/>
            </a:endParaRP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altLang="zh-CN" b="0" i="0">
                <a:solidFill>
                  <a:srgbClr val="1D1D1F"/>
                </a:solidFill>
                <a:latin typeface="system-ui"/>
                <a:ea typeface="system-ui"/>
              </a:rPr>
              <a:t>F1</a:t>
            </a:r>
            <a:endParaRPr lang="en-US" altLang="zh-CN" b="0" i="0">
              <a:solidFill>
                <a:srgbClr val="1D1D1F"/>
              </a:solidFill>
              <a:latin typeface="system-ui"/>
              <a:ea typeface="system-ui"/>
            </a:endParaRP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zh-CN" altLang="en-US" b="0" i="0">
                <a:solidFill>
                  <a:srgbClr val="1D1D1F"/>
                </a:solidFill>
                <a:latin typeface="system-ui"/>
                <a:ea typeface="system-ui"/>
              </a:rPr>
              <a:t>成功率（</a:t>
            </a:r>
            <a:r>
              <a:rPr lang="en-US" altLang="zh-CN" b="0" i="0">
                <a:solidFill>
                  <a:srgbClr val="1D1D1F"/>
                </a:solidFill>
                <a:latin typeface="system-ui"/>
                <a:ea typeface="system-ui"/>
              </a:rPr>
              <a:t>SR</a:t>
            </a:r>
            <a:r>
              <a:rPr lang="zh-CN" altLang="en-US" b="0" i="0">
                <a:solidFill>
                  <a:srgbClr val="1D1D1F"/>
                </a:solidFill>
                <a:latin typeface="system-ui"/>
                <a:ea typeface="system-ui"/>
              </a:rPr>
              <a:t>）</a:t>
            </a:r>
            <a:endParaRPr lang="zh-CN" altLang="en-US" b="0" i="0">
              <a:solidFill>
                <a:srgbClr val="1D1D1F"/>
              </a:solidFill>
              <a:latin typeface="system-ui"/>
              <a:ea typeface="system-ui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b="0" i="0">
                <a:solidFill>
                  <a:srgbClr val="1D1D1F"/>
                </a:solidFill>
                <a:latin typeface="system-ui"/>
                <a:ea typeface="system-ui"/>
              </a:rPr>
              <a:t>全面衡量标签生成质量与实用性</a:t>
            </a:r>
            <a:endParaRPr lang="zh-CN" altLang="en-US" b="0" i="0">
              <a:solidFill>
                <a:srgbClr val="1D1D1F"/>
              </a:solidFill>
              <a:latin typeface="system-ui"/>
              <a:ea typeface="system-u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梯形 34"/>
          <p:cNvSpPr/>
          <p:nvPr/>
        </p:nvSpPr>
        <p:spPr>
          <a:xfrm rot="16200000">
            <a:off x="5584648" y="-338488"/>
            <a:ext cx="1718803" cy="5399903"/>
          </a:xfrm>
          <a:prstGeom prst="trapezoid">
            <a:avLst>
              <a:gd name="adj" fmla="val 16935"/>
            </a:avLst>
          </a:prstGeom>
          <a:solidFill>
            <a:srgbClr val="A41C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37" name="梯形 36"/>
          <p:cNvSpPr/>
          <p:nvPr/>
        </p:nvSpPr>
        <p:spPr>
          <a:xfrm rot="5400000">
            <a:off x="998730" y="477602"/>
            <a:ext cx="1758050" cy="3755509"/>
          </a:xfrm>
          <a:prstGeom prst="trapezoid">
            <a:avLst>
              <a:gd name="adj" fmla="val 17865"/>
            </a:avLst>
          </a:prstGeom>
          <a:solidFill>
            <a:srgbClr val="E1DEC9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27" name="文本框 2"/>
          <p:cNvSpPr txBox="1"/>
          <p:nvPr/>
        </p:nvSpPr>
        <p:spPr>
          <a:xfrm>
            <a:off x="2796809" y="1917123"/>
            <a:ext cx="864870" cy="899160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</a:rPr>
              <a:t>Part</a:t>
            </a:r>
            <a:r>
              <a:rPr lang="en-US" altLang="zh-CN" sz="5400" b="1" dirty="0">
                <a:solidFill>
                  <a:schemeClr val="bg1"/>
                </a:solidFill>
              </a:rPr>
              <a:t>4</a:t>
            </a:r>
            <a:endParaRPr lang="zh-CN" altLang="en-US" sz="5400" b="1" dirty="0">
              <a:solidFill>
                <a:schemeClr val="bg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755380" y="2075425"/>
            <a:ext cx="1765300" cy="560705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1"/>
                </a:solidFill>
                <a:sym typeface="微软雅黑" panose="020B0503020204020204" pitchFamily="34" charset="-122"/>
              </a:rPr>
              <a:t>实验结果</a:t>
            </a:r>
            <a:endParaRPr lang="zh-CN" altLang="en-US" sz="3200" b="1" dirty="0">
              <a:solidFill>
                <a:schemeClr val="bg1"/>
              </a:solidFill>
              <a:sym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756" b="82622"/>
          <a:stretch>
            <a:fillRect/>
          </a:stretch>
        </p:blipFill>
        <p:spPr>
          <a:xfrm>
            <a:off x="-48130" y="889463"/>
            <a:ext cx="3198999" cy="192790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rgbClr val="A41C34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9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3" name="矩形 46"/>
          <p:cNvSpPr>
            <a:spLocks noChangeArrowheads="1"/>
          </p:cNvSpPr>
          <p:nvPr/>
        </p:nvSpPr>
        <p:spPr bwMode="auto">
          <a:xfrm>
            <a:off x="476188" y="149489"/>
            <a:ext cx="2014220" cy="459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l">
              <a:buNone/>
            </a:pPr>
            <a:r>
              <a:rPr lang="zh-CN" altLang="en-US" sz="2400" b="1" dirty="0" err="1"/>
              <a:t>四</a:t>
            </a:r>
            <a:r>
              <a:rPr lang="en-US" altLang="zh-CN" sz="2400" b="1" dirty="0" err="1"/>
              <a:t>、</a:t>
            </a:r>
            <a:r>
              <a:rPr lang="zh-CN" altLang="en-US" sz="2400" b="1" dirty="0">
                <a:solidFill>
                  <a:schemeClr val="tx1"/>
                </a:solidFill>
                <a:sym typeface="微软雅黑" panose="020B0503020204020204" pitchFamily="34" charset="-122"/>
              </a:rPr>
              <a:t>实验结果</a:t>
            </a:r>
            <a:endParaRPr lang="zh-CN" altLang="en-US" sz="2400" b="1" dirty="0">
              <a:solidFill>
                <a:schemeClr val="tx1"/>
              </a:solidFill>
              <a:sym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927350" y="574675"/>
            <a:ext cx="3016885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1600" b="0" i="0">
                <a:solidFill>
                  <a:srgbClr val="1D1D1F"/>
                </a:solidFill>
                <a:latin typeface="system-ui"/>
                <a:ea typeface="system-ui"/>
              </a:rPr>
              <a:t>LLM</a:t>
            </a:r>
            <a:r>
              <a:rPr lang="zh-CN" altLang="en-US" sz="1600" b="0" i="0">
                <a:solidFill>
                  <a:srgbClr val="1D1D1F"/>
                </a:solidFill>
                <a:latin typeface="system-ui"/>
                <a:ea typeface="system-ui"/>
              </a:rPr>
              <a:t>生成 </a:t>
            </a:r>
            <a:r>
              <a:rPr lang="en-US" altLang="zh-CN" sz="1600" b="0" i="0">
                <a:solidFill>
                  <a:srgbClr val="1D1D1F"/>
                </a:solidFill>
                <a:latin typeface="system-ui"/>
                <a:ea typeface="system-ui"/>
              </a:rPr>
              <a:t>Topic </a:t>
            </a:r>
            <a:r>
              <a:rPr lang="zh-CN" altLang="en-US" sz="1600" b="0" i="0">
                <a:solidFill>
                  <a:srgbClr val="1D1D1F"/>
                </a:solidFill>
                <a:latin typeface="system-ui"/>
                <a:ea typeface="system-ui"/>
              </a:rPr>
              <a:t>综合性能对比</a:t>
            </a:r>
            <a:endParaRPr lang="zh-CN" altLang="en-US" sz="1600" b="0" i="0">
              <a:solidFill>
                <a:srgbClr val="1D1D1F"/>
              </a:solidFill>
              <a:latin typeface="system-ui"/>
              <a:ea typeface="system-ui"/>
            </a:endParaRPr>
          </a:p>
        </p:txBody>
      </p:sp>
      <p:graphicFrame>
        <p:nvGraphicFramePr>
          <p:cNvPr id="14" name="表格 13"/>
          <p:cNvGraphicFramePr/>
          <p:nvPr/>
        </p:nvGraphicFramePr>
        <p:xfrm>
          <a:off x="20638" y="967327"/>
          <a:ext cx="8852535" cy="249936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255395"/>
                <a:gridCol w="633095"/>
                <a:gridCol w="633095"/>
                <a:gridCol w="633095"/>
                <a:gridCol w="633095"/>
                <a:gridCol w="633095"/>
                <a:gridCol w="633095"/>
                <a:gridCol w="633095"/>
                <a:gridCol w="633095"/>
                <a:gridCol w="633095"/>
                <a:gridCol w="633095"/>
                <a:gridCol w="633095"/>
                <a:gridCol w="633095"/>
              </a:tblGrid>
              <a:tr h="123825">
                <a:tc>
                  <a:txBody>
                    <a:bodyPr/>
                    <a:p>
                      <a:pPr algn="l" fontAlgn="t"/>
                      <a:r>
                        <a:rPr lang="zh-CN" altLang="en-US" sz="1400">
                          <a:uFillTx/>
                        </a:rPr>
                        <a:t>模型</a:t>
                      </a:r>
                      <a:endParaRPr lang="zh-CN" altLang="en-US" sz="1400">
                        <a:uFillTx/>
                      </a:endParaRPr>
                    </a:p>
                  </a:txBody>
                  <a:tcPr marL="101917" marR="101917" marT="101917" marB="101917" anchor="t" anchorCtr="0"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P@3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R@3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F@3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S@3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P@4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R@4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F@4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S@4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P@5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R@5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F@5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S@5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23825"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GPT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0.44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0.21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0.29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0.78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0.39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0.24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0.30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0.81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0.35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0.26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0.30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0.83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</a:tr>
              <a:tr h="123825"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DeepSeek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0.51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0.24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0.32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0.84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0.45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0.27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0.34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0.87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0.41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0.30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0.35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0.88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/>
                </a:tc>
              </a:tr>
              <a:tr h="123825">
                <a:tc>
                  <a:txBody>
                    <a:bodyPr/>
                    <a:p>
                      <a:pPr algn="l" fontAlgn="t"/>
                      <a:r>
                        <a:rPr lang="en-US" altLang="zh-CN" sz="1400" b="1">
                          <a:solidFill>
                            <a:srgbClr val="C00000"/>
                          </a:solidFill>
                          <a:uFillTx/>
                          <a:latin typeface="Arial Bold" panose="020B0604020202090204" charset="0"/>
                          <a:cs typeface="Arial Bold" panose="020B0604020202090204" charset="0"/>
                        </a:rPr>
                        <a:t>Claude</a:t>
                      </a:r>
                      <a:endParaRPr lang="en-US" altLang="zh-CN" sz="1400" b="1">
                        <a:solidFill>
                          <a:srgbClr val="C00000"/>
                        </a:solidFill>
                        <a:uFillTx/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1">
                          <a:solidFill>
                            <a:srgbClr val="C00000"/>
                          </a:solidFill>
                          <a:uFillTx/>
                          <a:latin typeface="Arial Bold" panose="020B0604020202090204" charset="0"/>
                          <a:cs typeface="Arial Bold" panose="020B0604020202090204" charset="0"/>
                        </a:rPr>
                        <a:t>0.51</a:t>
                      </a:r>
                      <a:endParaRPr lang="en-US" altLang="zh-CN" sz="1400" b="1">
                        <a:solidFill>
                          <a:srgbClr val="C00000"/>
                        </a:solidFill>
                        <a:uFillTx/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1">
                          <a:solidFill>
                            <a:srgbClr val="C00000"/>
                          </a:solidFill>
                          <a:uFillTx/>
                          <a:latin typeface="Arial Bold" panose="020B0604020202090204" charset="0"/>
                          <a:cs typeface="Arial Bold" panose="020B0604020202090204" charset="0"/>
                        </a:rPr>
                        <a:t>0.24</a:t>
                      </a:r>
                      <a:endParaRPr lang="en-US" altLang="zh-CN" sz="1400" b="1">
                        <a:solidFill>
                          <a:srgbClr val="C00000"/>
                        </a:solidFill>
                        <a:uFillTx/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1">
                          <a:solidFill>
                            <a:srgbClr val="C00000"/>
                          </a:solidFill>
                          <a:uFillTx/>
                          <a:latin typeface="Arial Bold" panose="020B0604020202090204" charset="0"/>
                          <a:cs typeface="Arial Bold" panose="020B0604020202090204" charset="0"/>
                        </a:rPr>
                        <a:t>0.33</a:t>
                      </a:r>
                      <a:endParaRPr lang="en-US" altLang="zh-CN" sz="1400" b="1">
                        <a:solidFill>
                          <a:srgbClr val="C00000"/>
                        </a:solidFill>
                        <a:uFillTx/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1">
                          <a:solidFill>
                            <a:srgbClr val="C00000"/>
                          </a:solidFill>
                          <a:uFillTx/>
                          <a:latin typeface="Arial Bold" panose="020B0604020202090204" charset="0"/>
                          <a:cs typeface="Arial Bold" panose="020B0604020202090204" charset="0"/>
                        </a:rPr>
                        <a:t>0.85</a:t>
                      </a:r>
                      <a:endParaRPr lang="en-US" altLang="zh-CN" sz="1400" b="1">
                        <a:solidFill>
                          <a:srgbClr val="C00000"/>
                        </a:solidFill>
                        <a:uFillTx/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1">
                          <a:solidFill>
                            <a:srgbClr val="C00000"/>
                          </a:solidFill>
                          <a:uFillTx/>
                          <a:latin typeface="Arial Bold" panose="020B0604020202090204" charset="0"/>
                          <a:cs typeface="Arial Bold" panose="020B0604020202090204" charset="0"/>
                        </a:rPr>
                        <a:t>0.45</a:t>
                      </a:r>
                      <a:endParaRPr lang="en-US" altLang="zh-CN" sz="1400" b="1">
                        <a:solidFill>
                          <a:srgbClr val="C00000"/>
                        </a:solidFill>
                        <a:uFillTx/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1">
                          <a:solidFill>
                            <a:srgbClr val="C00000"/>
                          </a:solidFill>
                          <a:uFillTx/>
                          <a:latin typeface="Arial Bold" panose="020B0604020202090204" charset="0"/>
                          <a:cs typeface="Arial Bold" panose="020B0604020202090204" charset="0"/>
                        </a:rPr>
                        <a:t>0.28</a:t>
                      </a:r>
                      <a:endParaRPr lang="en-US" altLang="zh-CN" sz="1400" b="1">
                        <a:solidFill>
                          <a:srgbClr val="C00000"/>
                        </a:solidFill>
                        <a:uFillTx/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1">
                          <a:solidFill>
                            <a:srgbClr val="C00000"/>
                          </a:solidFill>
                          <a:uFillTx/>
                          <a:latin typeface="Arial Bold" panose="020B0604020202090204" charset="0"/>
                          <a:cs typeface="Arial Bold" panose="020B0604020202090204" charset="0"/>
                        </a:rPr>
                        <a:t>0.35</a:t>
                      </a:r>
                      <a:endParaRPr lang="en-US" altLang="zh-CN" sz="1400" b="1">
                        <a:solidFill>
                          <a:srgbClr val="C00000"/>
                        </a:solidFill>
                        <a:uFillTx/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1">
                          <a:solidFill>
                            <a:srgbClr val="C00000"/>
                          </a:solidFill>
                          <a:uFillTx/>
                          <a:latin typeface="Arial Bold" panose="020B0604020202090204" charset="0"/>
                          <a:cs typeface="Arial Bold" panose="020B0604020202090204" charset="0"/>
                        </a:rPr>
                        <a:t>0.88</a:t>
                      </a:r>
                      <a:endParaRPr lang="en-US" altLang="zh-CN" sz="1400" b="1">
                        <a:solidFill>
                          <a:srgbClr val="C00000"/>
                        </a:solidFill>
                        <a:uFillTx/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1">
                          <a:solidFill>
                            <a:srgbClr val="C00000"/>
                          </a:solidFill>
                          <a:uFillTx/>
                          <a:latin typeface="Arial Bold" panose="020B0604020202090204" charset="0"/>
                          <a:cs typeface="Arial Bold" panose="020B0604020202090204" charset="0"/>
                        </a:rPr>
                        <a:t>0.41</a:t>
                      </a:r>
                      <a:endParaRPr lang="en-US" altLang="zh-CN" sz="1400" b="1">
                        <a:solidFill>
                          <a:srgbClr val="C00000"/>
                        </a:solidFill>
                        <a:uFillTx/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1">
                          <a:solidFill>
                            <a:srgbClr val="C00000"/>
                          </a:solidFill>
                          <a:uFillTx/>
                          <a:latin typeface="Arial Bold" panose="020B0604020202090204" charset="0"/>
                          <a:cs typeface="Arial Bold" panose="020B0604020202090204" charset="0"/>
                        </a:rPr>
                        <a:t>0.31</a:t>
                      </a:r>
                      <a:endParaRPr lang="en-US" altLang="zh-CN" sz="1400" b="1">
                        <a:solidFill>
                          <a:srgbClr val="C00000"/>
                        </a:solidFill>
                        <a:uFillTx/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1">
                          <a:solidFill>
                            <a:srgbClr val="C00000"/>
                          </a:solidFill>
                          <a:uFillTx/>
                          <a:latin typeface="Arial Bold" panose="020B0604020202090204" charset="0"/>
                          <a:cs typeface="Arial Bold" panose="020B0604020202090204" charset="0"/>
                        </a:rPr>
                        <a:t>0.36</a:t>
                      </a:r>
                      <a:endParaRPr lang="en-US" altLang="zh-CN" sz="1400" b="1">
                        <a:solidFill>
                          <a:srgbClr val="C00000"/>
                        </a:solidFill>
                        <a:uFillTx/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1">
                          <a:solidFill>
                            <a:srgbClr val="C00000"/>
                          </a:solidFill>
                          <a:uFillTx/>
                          <a:latin typeface="Arial Bold" panose="020B0604020202090204" charset="0"/>
                          <a:cs typeface="Arial Bold" panose="020B0604020202090204" charset="0"/>
                        </a:rPr>
                        <a:t>0.89</a:t>
                      </a:r>
                      <a:endParaRPr lang="en-US" altLang="zh-CN" sz="1400" b="1">
                        <a:solidFill>
                          <a:srgbClr val="C00000"/>
                        </a:solidFill>
                        <a:uFillTx/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101917" marR="101917" marT="101917" marB="101917" anchor="t" anchorCtr="0"/>
                </a:tc>
              </a:tr>
              <a:tr h="123825"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Gemini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0.39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0.19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0.25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0.68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0.35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0.22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0.27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0.71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0.32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0.24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0.27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0.72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/>
                </a:tc>
              </a:tr>
              <a:tr h="123825"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Qwen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0.47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0.22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0.30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0.81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0.42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0.25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0.32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0.84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0.38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0.28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0.32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>
                          <a:uFillTx/>
                        </a:rPr>
                        <a:t>0.86</a:t>
                      </a:r>
                      <a:endParaRPr lang="en-US" altLang="zh-CN" sz="1400">
                        <a:uFillTx/>
                      </a:endParaRPr>
                    </a:p>
                  </a:txBody>
                  <a:tcPr marL="101917" marR="101917" marT="101917" marB="101917" anchor="t" anchorCtr="0"/>
                </a:tc>
              </a:tr>
            </a:tbl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20955" y="3608070"/>
            <a:ext cx="9269730" cy="12712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zh-CN" sz="1600" b="1" i="0">
                <a:solidFill>
                  <a:srgbClr val="1D1D1F"/>
                </a:solidFill>
                <a:uFillTx/>
                <a:latin typeface="Times New Roman" panose="02020503050405090304" pitchFamily="18" charset="0"/>
                <a:ea typeface="system-ui"/>
              </a:rPr>
              <a:t>Claude </a:t>
            </a:r>
            <a:r>
              <a:rPr lang="zh-CN" altLang="en-US" sz="1600" b="1" i="0">
                <a:solidFill>
                  <a:srgbClr val="1D1D1F"/>
                </a:solidFill>
                <a:uFillTx/>
                <a:latin typeface="Times New Roman" panose="02020503050405090304" pitchFamily="18" charset="0"/>
                <a:ea typeface="system-ui"/>
              </a:rPr>
              <a:t>综合表现最优：</a:t>
            </a:r>
            <a:r>
              <a:rPr lang="zh-CN" altLang="en-US" sz="1600" b="0" i="0">
                <a:solidFill>
                  <a:srgbClr val="1D1D1F"/>
                </a:solidFill>
                <a:uFillTx/>
                <a:latin typeface="Times New Roman" panose="02020503050405090304" pitchFamily="18" charset="0"/>
                <a:ea typeface="system-ui"/>
              </a:rPr>
              <a:t>在 </a:t>
            </a:r>
            <a:r>
              <a:rPr lang="en-US" altLang="zh-CN" sz="1600" b="0" i="0">
                <a:solidFill>
                  <a:srgbClr val="1D1D1F"/>
                </a:solidFill>
                <a:uFillTx/>
                <a:latin typeface="Times New Roman" panose="02020503050405090304" pitchFamily="18" charset="0"/>
                <a:ea typeface="system-ui"/>
              </a:rPr>
              <a:t>Top-3/4/5 </a:t>
            </a:r>
            <a:r>
              <a:rPr lang="zh-CN" altLang="en-US" sz="1600" b="0" i="0">
                <a:solidFill>
                  <a:srgbClr val="1D1D1F"/>
                </a:solidFill>
                <a:uFillTx/>
                <a:latin typeface="Times New Roman" panose="02020503050405090304" pitchFamily="18" charset="0"/>
                <a:ea typeface="system-ui"/>
              </a:rPr>
              <a:t>下 </a:t>
            </a:r>
            <a:r>
              <a:rPr lang="en-US" altLang="zh-CN" sz="1600" b="0" i="0">
                <a:solidFill>
                  <a:srgbClr val="1D1D1F"/>
                </a:solidFill>
                <a:uFillTx/>
                <a:latin typeface="Times New Roman" panose="02020503050405090304" pitchFamily="18" charset="0"/>
                <a:ea typeface="system-ui"/>
              </a:rPr>
              <a:t>F1 </a:t>
            </a:r>
            <a:r>
              <a:rPr lang="zh-CN" altLang="en-US" sz="1600" b="0" i="0">
                <a:solidFill>
                  <a:srgbClr val="1D1D1F"/>
                </a:solidFill>
                <a:uFillTx/>
                <a:latin typeface="Times New Roman" panose="02020503050405090304" pitchFamily="18" charset="0"/>
                <a:ea typeface="system-ui"/>
              </a:rPr>
              <a:t>与成功率（</a:t>
            </a:r>
            <a:r>
              <a:rPr lang="en-US" altLang="zh-CN" sz="1600" b="0" i="0">
                <a:solidFill>
                  <a:srgbClr val="1D1D1F"/>
                </a:solidFill>
                <a:uFillTx/>
                <a:latin typeface="Times New Roman" panose="02020503050405090304" pitchFamily="18" charset="0"/>
                <a:ea typeface="system-ui"/>
              </a:rPr>
              <a:t>S@K</a:t>
            </a:r>
            <a:r>
              <a:rPr lang="zh-CN" altLang="en-US" sz="1600" b="0" i="0">
                <a:solidFill>
                  <a:srgbClr val="1D1D1F"/>
                </a:solidFill>
                <a:uFillTx/>
                <a:latin typeface="Times New Roman" panose="02020503050405090304" pitchFamily="18" charset="0"/>
                <a:ea typeface="system-ui"/>
              </a:rPr>
              <a:t>）均领先，尤其 </a:t>
            </a:r>
            <a:r>
              <a:rPr lang="en-US" altLang="zh-CN" sz="1600" b="0" i="0">
                <a:solidFill>
                  <a:srgbClr val="1D1D1F"/>
                </a:solidFill>
                <a:uFillTx/>
                <a:latin typeface="Times New Roman" panose="02020503050405090304" pitchFamily="18" charset="0"/>
                <a:ea typeface="system-ui"/>
              </a:rPr>
              <a:t>F1@5 </a:t>
            </a:r>
            <a:r>
              <a:rPr lang="zh-CN" altLang="en-US" sz="1600" b="0" i="0">
                <a:solidFill>
                  <a:srgbClr val="1D1D1F"/>
                </a:solidFill>
                <a:uFillTx/>
                <a:latin typeface="Times New Roman" panose="02020503050405090304" pitchFamily="18" charset="0"/>
                <a:ea typeface="system-ui"/>
              </a:rPr>
              <a:t>达 </a:t>
            </a:r>
            <a:r>
              <a:rPr lang="en-US" altLang="zh-CN" sz="1600" b="0" i="0">
                <a:solidFill>
                  <a:srgbClr val="1D1D1F"/>
                </a:solidFill>
                <a:uFillTx/>
                <a:latin typeface="Times New Roman" panose="02020503050405090304" pitchFamily="18" charset="0"/>
                <a:ea typeface="system-ui"/>
              </a:rPr>
              <a:t>0.36</a:t>
            </a:r>
            <a:r>
              <a:rPr lang="zh-CN" altLang="en-US" sz="1600" b="0" i="0">
                <a:solidFill>
                  <a:srgbClr val="1D1D1F"/>
                </a:solidFill>
                <a:uFillTx/>
                <a:latin typeface="Times New Roman" panose="02020503050405090304" pitchFamily="18" charset="0"/>
                <a:ea typeface="system-ui"/>
              </a:rPr>
              <a:t>，</a:t>
            </a:r>
            <a:r>
              <a:rPr lang="en-US" altLang="zh-CN" sz="1600" b="0" i="0">
                <a:solidFill>
                  <a:srgbClr val="1D1D1F"/>
                </a:solidFill>
                <a:uFillTx/>
                <a:latin typeface="Times New Roman" panose="02020503050405090304" pitchFamily="18" charset="0"/>
                <a:ea typeface="system-ui"/>
              </a:rPr>
              <a:t>S@5 </a:t>
            </a:r>
            <a:r>
              <a:rPr lang="zh-CN" altLang="en-US" sz="1600" b="0" i="0">
                <a:solidFill>
                  <a:srgbClr val="1D1D1F"/>
                </a:solidFill>
                <a:uFillTx/>
                <a:latin typeface="Times New Roman" panose="02020503050405090304" pitchFamily="18" charset="0"/>
                <a:ea typeface="system-ui"/>
              </a:rPr>
              <a:t>高达 </a:t>
            </a:r>
            <a:r>
              <a:rPr lang="en-US" altLang="zh-CN" sz="1600" b="0" i="0">
                <a:solidFill>
                  <a:srgbClr val="1D1D1F"/>
                </a:solidFill>
                <a:uFillTx/>
                <a:latin typeface="Times New Roman" panose="02020503050405090304" pitchFamily="18" charset="0"/>
                <a:ea typeface="system-ui"/>
              </a:rPr>
              <a:t>0.89</a:t>
            </a:r>
            <a:r>
              <a:rPr lang="zh-CN" altLang="en-US" sz="1600" b="0" i="0">
                <a:solidFill>
                  <a:srgbClr val="1D1D1F"/>
                </a:solidFill>
                <a:uFillTx/>
                <a:latin typeface="Times New Roman" panose="02020503050405090304" pitchFamily="18" charset="0"/>
                <a:ea typeface="system-ui"/>
              </a:rPr>
              <a:t>。</a:t>
            </a:r>
            <a:endParaRPr lang="zh-CN" altLang="en-US" sz="1600" b="0" i="0">
              <a:solidFill>
                <a:srgbClr val="1D1D1F"/>
              </a:solidFill>
              <a:uFillTx/>
              <a:latin typeface="Times New Roman" panose="02020503050405090304" pitchFamily="18" charset="0"/>
              <a:ea typeface="system-ui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zh-CN" sz="1600" b="1" i="0">
                <a:solidFill>
                  <a:srgbClr val="1D1D1F"/>
                </a:solidFill>
                <a:uFillTx/>
                <a:latin typeface="Times New Roman" panose="02020503050405090304" pitchFamily="18" charset="0"/>
                <a:ea typeface="system-ui"/>
              </a:rPr>
              <a:t>DeepSeek </a:t>
            </a:r>
            <a:r>
              <a:rPr lang="zh-CN" altLang="en-US" sz="1600" b="1" i="0">
                <a:solidFill>
                  <a:srgbClr val="1D1D1F"/>
                </a:solidFill>
                <a:uFillTx/>
                <a:latin typeface="Times New Roman" panose="02020503050405090304" pitchFamily="18" charset="0"/>
                <a:ea typeface="system-ui"/>
              </a:rPr>
              <a:t>与 </a:t>
            </a:r>
            <a:r>
              <a:rPr lang="en-US" altLang="zh-CN" sz="1600" b="1" i="0">
                <a:solidFill>
                  <a:srgbClr val="1D1D1F"/>
                </a:solidFill>
                <a:uFillTx/>
                <a:latin typeface="Times New Roman" panose="02020503050405090304" pitchFamily="18" charset="0"/>
                <a:ea typeface="system-ui"/>
              </a:rPr>
              <a:t>Qwen </a:t>
            </a:r>
            <a:r>
              <a:rPr lang="zh-CN" altLang="en-US" sz="1600" b="1" i="0">
                <a:solidFill>
                  <a:srgbClr val="1D1D1F"/>
                </a:solidFill>
                <a:uFillTx/>
                <a:latin typeface="Times New Roman" panose="02020503050405090304" pitchFamily="18" charset="0"/>
                <a:ea typeface="system-ui"/>
              </a:rPr>
              <a:t>紧随其后：</a:t>
            </a:r>
            <a:r>
              <a:rPr lang="zh-CN" altLang="en-US" sz="1600" b="0" i="0">
                <a:solidFill>
                  <a:srgbClr val="1D1D1F"/>
                </a:solidFill>
                <a:uFillTx/>
                <a:latin typeface="Times New Roman" panose="02020503050405090304" pitchFamily="18" charset="0"/>
                <a:ea typeface="system-ui"/>
              </a:rPr>
              <a:t>性能接近 </a:t>
            </a:r>
            <a:r>
              <a:rPr lang="en-US" altLang="zh-CN" sz="1600" b="0" i="0">
                <a:solidFill>
                  <a:srgbClr val="1D1D1F"/>
                </a:solidFill>
                <a:uFillTx/>
                <a:latin typeface="Times New Roman" panose="02020503050405090304" pitchFamily="18" charset="0"/>
                <a:ea typeface="system-ui"/>
              </a:rPr>
              <a:t>Claude</a:t>
            </a:r>
            <a:r>
              <a:rPr lang="zh-CN" altLang="en-US" sz="1600" b="0" i="0">
                <a:solidFill>
                  <a:srgbClr val="1D1D1F"/>
                </a:solidFill>
                <a:uFillTx/>
                <a:latin typeface="Times New Roman" panose="02020503050405090304" pitchFamily="18" charset="0"/>
                <a:ea typeface="system-ui"/>
              </a:rPr>
              <a:t>，显著优于 </a:t>
            </a:r>
            <a:r>
              <a:rPr lang="en-US" altLang="zh-CN" sz="1600" b="0" i="0">
                <a:solidFill>
                  <a:srgbClr val="1D1D1F"/>
                </a:solidFill>
                <a:uFillTx/>
                <a:latin typeface="Times New Roman" panose="02020503050405090304" pitchFamily="18" charset="0"/>
                <a:ea typeface="system-ui"/>
              </a:rPr>
              <a:t>GPT-4 </a:t>
            </a:r>
            <a:r>
              <a:rPr lang="zh-CN" altLang="en-US" sz="1600" b="0" i="0">
                <a:solidFill>
                  <a:srgbClr val="1D1D1F"/>
                </a:solidFill>
                <a:uFillTx/>
                <a:latin typeface="Times New Roman" panose="02020503050405090304" pitchFamily="18" charset="0"/>
                <a:ea typeface="system-ui"/>
              </a:rPr>
              <a:t>与 </a:t>
            </a:r>
            <a:r>
              <a:rPr lang="en-US" altLang="zh-CN" sz="1600" b="0" i="0">
                <a:solidFill>
                  <a:srgbClr val="1D1D1F"/>
                </a:solidFill>
                <a:uFillTx/>
                <a:latin typeface="Times New Roman" panose="02020503050405090304" pitchFamily="18" charset="0"/>
                <a:ea typeface="system-ui"/>
              </a:rPr>
              <a:t>Gemini</a:t>
            </a:r>
            <a:r>
              <a:rPr lang="zh-CN" altLang="en-US" sz="1600" b="0" i="0">
                <a:solidFill>
                  <a:srgbClr val="1D1D1F"/>
                </a:solidFill>
                <a:uFillTx/>
                <a:latin typeface="Times New Roman" panose="02020503050405090304" pitchFamily="18" charset="0"/>
                <a:ea typeface="system-ui"/>
              </a:rPr>
              <a:t>，展现国产模型竞争力。</a:t>
            </a:r>
            <a:endParaRPr lang="zh-CN" altLang="en-US" sz="1600" b="0" i="0">
              <a:solidFill>
                <a:srgbClr val="1D1D1F"/>
              </a:solidFill>
              <a:uFillTx/>
              <a:latin typeface="Times New Roman" panose="02020503050405090304" pitchFamily="18" charset="0"/>
              <a:ea typeface="system-ui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zh-CN" sz="1600" b="1" i="0">
                <a:solidFill>
                  <a:srgbClr val="1D1D1F"/>
                </a:solidFill>
                <a:uFillTx/>
                <a:latin typeface="Times New Roman" panose="02020503050405090304" pitchFamily="18" charset="0"/>
                <a:ea typeface="system-ui"/>
              </a:rPr>
              <a:t>Gemini </a:t>
            </a:r>
            <a:r>
              <a:rPr lang="zh-CN" altLang="en-US" sz="1600" b="1" i="0">
                <a:solidFill>
                  <a:srgbClr val="1D1D1F"/>
                </a:solidFill>
                <a:uFillTx/>
                <a:latin typeface="Times New Roman" panose="02020503050405090304" pitchFamily="18" charset="0"/>
                <a:ea typeface="system-ui"/>
              </a:rPr>
              <a:t>表现明显落后：</a:t>
            </a:r>
            <a:r>
              <a:rPr lang="zh-CN" altLang="en-US" sz="1600" b="0" i="0">
                <a:solidFill>
                  <a:srgbClr val="1D1D1F"/>
                </a:solidFill>
                <a:uFillTx/>
                <a:latin typeface="Times New Roman" panose="02020503050405090304" pitchFamily="18" charset="0"/>
                <a:ea typeface="system-ui"/>
              </a:rPr>
              <a:t>各项指标均为最低，</a:t>
            </a:r>
            <a:r>
              <a:rPr lang="en-US" altLang="zh-CN" sz="1600" b="0" i="0">
                <a:solidFill>
                  <a:srgbClr val="1D1D1F"/>
                </a:solidFill>
                <a:uFillTx/>
                <a:latin typeface="Times New Roman" panose="02020503050405090304" pitchFamily="18" charset="0"/>
                <a:ea typeface="system-ui"/>
              </a:rPr>
              <a:t>F1@5 </a:t>
            </a:r>
            <a:r>
              <a:rPr lang="zh-CN" altLang="en-US" sz="1600" b="0" i="0">
                <a:solidFill>
                  <a:srgbClr val="1D1D1F"/>
                </a:solidFill>
                <a:uFillTx/>
                <a:latin typeface="Times New Roman" panose="02020503050405090304" pitchFamily="18" charset="0"/>
                <a:ea typeface="system-ui"/>
              </a:rPr>
              <a:t>仅 </a:t>
            </a:r>
            <a:r>
              <a:rPr lang="en-US" altLang="zh-CN" sz="1600" b="0" i="0">
                <a:solidFill>
                  <a:srgbClr val="1D1D1F"/>
                </a:solidFill>
                <a:uFillTx/>
                <a:latin typeface="Times New Roman" panose="02020503050405090304" pitchFamily="18" charset="0"/>
                <a:ea typeface="system-ui"/>
              </a:rPr>
              <a:t>0.27</a:t>
            </a:r>
            <a:r>
              <a:rPr lang="zh-CN" altLang="en-US" sz="1600" b="0" i="0">
                <a:solidFill>
                  <a:srgbClr val="1D1D1F"/>
                </a:solidFill>
                <a:uFillTx/>
                <a:latin typeface="Times New Roman" panose="02020503050405090304" pitchFamily="18" charset="0"/>
                <a:ea typeface="system-ui"/>
              </a:rPr>
              <a:t>，成功率（</a:t>
            </a:r>
            <a:r>
              <a:rPr lang="en-US" altLang="zh-CN" sz="1600" b="0" i="0">
                <a:solidFill>
                  <a:srgbClr val="1D1D1F"/>
                </a:solidFill>
                <a:uFillTx/>
                <a:latin typeface="Times New Roman" panose="02020503050405090304" pitchFamily="18" charset="0"/>
                <a:ea typeface="system-ui"/>
              </a:rPr>
              <a:t>S@5=0.72</a:t>
            </a:r>
            <a:r>
              <a:rPr lang="zh-CN" altLang="en-US" sz="1600" b="0" i="0">
                <a:solidFill>
                  <a:srgbClr val="1D1D1F"/>
                </a:solidFill>
                <a:uFillTx/>
                <a:latin typeface="Times New Roman" panose="02020503050405090304" pitchFamily="18" charset="0"/>
                <a:ea typeface="system-ui"/>
              </a:rPr>
              <a:t>）显著偏低。</a:t>
            </a:r>
            <a:endParaRPr lang="zh-CN" altLang="en-US" sz="1600" b="0" i="0">
              <a:solidFill>
                <a:srgbClr val="1D1D1F"/>
              </a:solidFill>
              <a:uFillTx/>
              <a:latin typeface="Times New Roman" panose="02020503050405090304" pitchFamily="18" charset="0"/>
              <a:ea typeface="system-u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rgbClr val="A41C34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9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3" name="矩形 46"/>
          <p:cNvSpPr>
            <a:spLocks noChangeArrowheads="1"/>
          </p:cNvSpPr>
          <p:nvPr/>
        </p:nvSpPr>
        <p:spPr bwMode="auto">
          <a:xfrm>
            <a:off x="476188" y="149489"/>
            <a:ext cx="2014220" cy="459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l">
              <a:buNone/>
            </a:pPr>
            <a:r>
              <a:rPr lang="zh-CN" altLang="en-US" sz="2400" b="1" dirty="0" err="1"/>
              <a:t>四</a:t>
            </a:r>
            <a:r>
              <a:rPr lang="en-US" altLang="zh-CN" sz="2400" b="1" dirty="0" err="1"/>
              <a:t>、</a:t>
            </a:r>
            <a:r>
              <a:rPr lang="zh-CN" altLang="en-US" sz="2400" b="1" dirty="0">
                <a:solidFill>
                  <a:schemeClr val="tx1"/>
                </a:solidFill>
                <a:sym typeface="微软雅黑" panose="020B0503020204020204" pitchFamily="34" charset="-122"/>
              </a:rPr>
              <a:t>实验结果</a:t>
            </a:r>
            <a:endParaRPr lang="zh-CN" altLang="en-US" sz="2400" b="1" dirty="0">
              <a:solidFill>
                <a:schemeClr val="tx1"/>
              </a:solidFill>
              <a:sym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927350" y="574675"/>
            <a:ext cx="3626485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1600" b="0" i="0">
                <a:solidFill>
                  <a:srgbClr val="1D1D1F"/>
                </a:solidFill>
                <a:latin typeface="system-ui"/>
                <a:ea typeface="system-ui"/>
              </a:rPr>
              <a:t>self-tag</a:t>
            </a:r>
            <a:r>
              <a:rPr lang="zh-CN" altLang="en-US" sz="1600" b="0" i="0">
                <a:solidFill>
                  <a:srgbClr val="1D1D1F"/>
                </a:solidFill>
                <a:latin typeface="system-ui"/>
                <a:ea typeface="system-ui"/>
              </a:rPr>
              <a:t>与其他优秀模型对比</a:t>
            </a:r>
            <a:r>
              <a:rPr lang="zh-CN" altLang="en-US" sz="1600" b="0" i="0">
                <a:solidFill>
                  <a:srgbClr val="1D1D1F"/>
                </a:solidFill>
                <a:latin typeface="system-ui"/>
                <a:ea typeface="system-ui"/>
              </a:rPr>
              <a:t>结果</a:t>
            </a:r>
            <a:endParaRPr lang="zh-CN" altLang="en-US" sz="1600" b="0" i="0">
              <a:solidFill>
                <a:srgbClr val="1D1D1F"/>
              </a:solidFill>
              <a:latin typeface="system-ui"/>
              <a:ea typeface="system-ui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5410" y="3060065"/>
            <a:ext cx="9038590" cy="20110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sz="1600" b="1" i="0">
                <a:solidFill>
                  <a:srgbClr val="1D1D1F"/>
                </a:solidFill>
                <a:uFillTx/>
                <a:latin typeface="Times New Roman" panose="02020503050405090304" pitchFamily="18" charset="0"/>
                <a:ea typeface="system-ui"/>
              </a:rPr>
              <a:t>Self-Tag 全面超越现有方法</a:t>
            </a:r>
            <a:r>
              <a:rPr sz="1600" i="0">
                <a:solidFill>
                  <a:srgbClr val="1D1D1F"/>
                </a:solidFill>
                <a:uFillTx/>
                <a:latin typeface="Times New Roman" panose="02020503050405090304" pitchFamily="18" charset="0"/>
                <a:ea typeface="system-ui"/>
              </a:rPr>
              <a:t>：在所有 Top-K 设置下，F1 和成功率（SR）均显著优于 LR-TFIDF 和 ZestXML。</a:t>
            </a:r>
            <a:endParaRPr sz="1600" i="0">
              <a:solidFill>
                <a:srgbClr val="1D1D1F"/>
              </a:solidFill>
              <a:uFillTx/>
              <a:latin typeface="Times New Roman" panose="02020503050405090304" pitchFamily="18" charset="0"/>
              <a:ea typeface="system-ui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sz="1600" b="1" i="0">
                <a:solidFill>
                  <a:srgbClr val="1D1D1F"/>
                </a:solidFill>
                <a:uFillTx/>
                <a:latin typeface="Times New Roman" panose="02020503050405090304" pitchFamily="18" charset="0"/>
                <a:ea typeface="system-ui"/>
              </a:rPr>
              <a:t>高召回 + 高精度兼顾：</a:t>
            </a:r>
            <a:r>
              <a:rPr sz="1600" i="0">
                <a:solidFill>
                  <a:srgbClr val="1D1D1F"/>
                </a:solidFill>
                <a:uFillTx/>
                <a:latin typeface="Times New Roman" panose="02020503050405090304" pitchFamily="18" charset="0"/>
                <a:ea typeface="system-ui"/>
              </a:rPr>
              <a:t>Self-Tag 在 Top-10 时召回率达 0.55，同时保持 0.37 的精确率，F1@10 达 0.44，优于基线。</a:t>
            </a:r>
            <a:endParaRPr sz="1600" i="0">
              <a:solidFill>
                <a:srgbClr val="1D1D1F"/>
              </a:solidFill>
              <a:uFillTx/>
              <a:latin typeface="Times New Roman" panose="02020503050405090304" pitchFamily="18" charset="0"/>
              <a:ea typeface="system-ui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sz="1600" b="1" i="0">
                <a:solidFill>
                  <a:srgbClr val="1D1D1F"/>
                </a:solidFill>
                <a:uFillTx/>
                <a:latin typeface="Times New Roman" panose="02020503050405090304" pitchFamily="18" charset="0"/>
                <a:ea typeface="system-ui"/>
              </a:rPr>
              <a:t>近乎 100% 的标签命中率：</a:t>
            </a:r>
            <a:r>
              <a:rPr sz="1600" i="0">
                <a:solidFill>
                  <a:srgbClr val="1D1D1F"/>
                </a:solidFill>
                <a:uFillTx/>
                <a:latin typeface="Times New Roman" panose="02020503050405090304" pitchFamily="18" charset="0"/>
                <a:ea typeface="system-ui"/>
              </a:rPr>
              <a:t>SR@8 与 SR@10 均达 1.00，表明 Self-Tag 能稳定为几乎所有项目生成至少一个有效标签。</a:t>
            </a:r>
            <a:endParaRPr sz="1600" i="0">
              <a:solidFill>
                <a:srgbClr val="1D1D1F"/>
              </a:solidFill>
              <a:uFillTx/>
              <a:latin typeface="Times New Roman" panose="02020503050405090304" pitchFamily="18" charset="0"/>
              <a:ea typeface="system-ui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213678" y="1082897"/>
          <a:ext cx="8717280" cy="172720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120140"/>
                <a:gridCol w="633095"/>
                <a:gridCol w="633095"/>
                <a:gridCol w="633095"/>
                <a:gridCol w="633095"/>
                <a:gridCol w="633095"/>
                <a:gridCol w="633095"/>
                <a:gridCol w="633095"/>
                <a:gridCol w="633095"/>
                <a:gridCol w="633095"/>
                <a:gridCol w="633095"/>
                <a:gridCol w="633095"/>
                <a:gridCol w="633095"/>
              </a:tblGrid>
              <a:tr h="123825">
                <a:tc>
                  <a:txBody>
                    <a:bodyPr/>
                    <a:p>
                      <a:pPr algn="l" fontAlgn="t"/>
                      <a:r>
                        <a:rPr lang="en-US" altLang="zh-CN" sz="1400"/>
                        <a:t>Models</a:t>
                      </a:r>
                      <a:endParaRPr lang="en-US" altLang="zh-CN" sz="1400"/>
                    </a:p>
                  </a:txBody>
                  <a:tcPr marL="101917" marR="101917" marT="101917" marB="101917" anchor="t" anchorCtr="0"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/>
                        <a:t>P@5</a:t>
                      </a:r>
                      <a:endParaRPr lang="en-US" altLang="zh-CN" sz="1400"/>
                    </a:p>
                  </a:txBody>
                  <a:tcPr marL="101917" marR="101917" marT="101917" marB="101917" anchor="t" anchorCtr="0"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/>
                        <a:t>R@5</a:t>
                      </a:r>
                      <a:endParaRPr lang="en-US" altLang="zh-CN" sz="1400"/>
                    </a:p>
                  </a:txBody>
                  <a:tcPr marL="101917" marR="101917" marT="101917" marB="101917" anchor="t" anchorCtr="0"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/>
                        <a:t>F1@5</a:t>
                      </a:r>
                      <a:endParaRPr lang="en-US" altLang="zh-CN" sz="1400"/>
                    </a:p>
                  </a:txBody>
                  <a:tcPr marL="101917" marR="101917" marT="101917" marB="101917" anchor="t" anchorCtr="0"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/>
                        <a:t>SR@5</a:t>
                      </a:r>
                      <a:endParaRPr lang="en-US" altLang="zh-CN" sz="1400"/>
                    </a:p>
                  </a:txBody>
                  <a:tcPr marL="101917" marR="101917" marT="101917" marB="101917" anchor="t" anchorCtr="0"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/>
                        <a:t>P@8</a:t>
                      </a:r>
                      <a:endParaRPr lang="en-US" altLang="zh-CN" sz="1400"/>
                    </a:p>
                  </a:txBody>
                  <a:tcPr marL="101917" marR="101917" marT="101917" marB="101917" anchor="t" anchorCtr="0"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/>
                        <a:t>R@8</a:t>
                      </a:r>
                      <a:endParaRPr lang="en-US" altLang="zh-CN" sz="1400"/>
                    </a:p>
                  </a:txBody>
                  <a:tcPr marL="101917" marR="101917" marT="101917" marB="101917" anchor="t" anchorCtr="0"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/>
                        <a:t>F1@8</a:t>
                      </a:r>
                      <a:endParaRPr lang="en-US" altLang="zh-CN" sz="1400"/>
                    </a:p>
                  </a:txBody>
                  <a:tcPr marL="101917" marR="101917" marT="101917" marB="101917" anchor="t" anchorCtr="0"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/>
                        <a:t>SR@8</a:t>
                      </a:r>
                      <a:endParaRPr lang="en-US" altLang="zh-CN" sz="1400"/>
                    </a:p>
                  </a:txBody>
                  <a:tcPr marL="101917" marR="101917" marT="101917" marB="101917" anchor="t" anchorCtr="0"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/>
                        <a:t>P@10</a:t>
                      </a:r>
                      <a:endParaRPr lang="en-US" altLang="zh-CN" sz="1400"/>
                    </a:p>
                  </a:txBody>
                  <a:tcPr marL="101917" marR="101917" marT="101917" marB="101917" anchor="t" anchorCtr="0"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/>
                        <a:t>R@10</a:t>
                      </a:r>
                      <a:endParaRPr lang="en-US" altLang="zh-CN" sz="1400"/>
                    </a:p>
                  </a:txBody>
                  <a:tcPr marL="101917" marR="101917" marT="101917" marB="101917" anchor="t" anchorCtr="0"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/>
                        <a:t>F1@10</a:t>
                      </a:r>
                      <a:endParaRPr lang="en-US" altLang="zh-CN" sz="1400"/>
                    </a:p>
                  </a:txBody>
                  <a:tcPr marL="101917" marR="101917" marT="101917" marB="101917" anchor="t" anchorCtr="0"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/>
                        <a:t>SR@10</a:t>
                      </a:r>
                      <a:endParaRPr lang="en-US" altLang="zh-CN" sz="1400"/>
                    </a:p>
                  </a:txBody>
                  <a:tcPr marL="101917" marR="101917" marT="101917" marB="101917" anchor="t" anchorCtr="0"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23825">
                <a:tc>
                  <a:txBody>
                    <a:bodyPr/>
                    <a:p>
                      <a:pPr algn="l" fontAlgn="t"/>
                      <a:r>
                        <a:rPr lang="en-US" altLang="zh-CN" sz="1400"/>
                        <a:t>LR-TFIDF</a:t>
                      </a:r>
                      <a:endParaRPr lang="en-US" altLang="zh-CN" sz="1400"/>
                    </a:p>
                  </a:txBody>
                  <a:tcPr marL="101917" marR="101917" marT="101917" marB="101917" anchor="t" anchorCtr="0"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/>
                        <a:t>0.42</a:t>
                      </a:r>
                      <a:endParaRPr lang="en-US" altLang="zh-CN" sz="1400"/>
                    </a:p>
                  </a:txBody>
                  <a:tcPr marL="101917" marR="101917" marT="101917" marB="101917" anchor="t" anchorCtr="0"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/>
                        <a:t>0.35</a:t>
                      </a:r>
                      <a:endParaRPr lang="en-US" altLang="zh-CN" sz="1400"/>
                    </a:p>
                  </a:txBody>
                  <a:tcPr marL="101917" marR="101917" marT="101917" marB="101917" anchor="t" anchorCtr="0"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/>
                        <a:t>0.35</a:t>
                      </a:r>
                      <a:endParaRPr lang="en-US" altLang="zh-CN" sz="1400"/>
                    </a:p>
                  </a:txBody>
                  <a:tcPr marL="101917" marR="101917" marT="101917" marB="101917" anchor="t" anchorCtr="0"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/>
                        <a:t>0.91</a:t>
                      </a:r>
                      <a:endParaRPr lang="en-US" altLang="zh-CN" sz="1400"/>
                    </a:p>
                  </a:txBody>
                  <a:tcPr marL="101917" marR="101917" marT="101917" marB="101917" anchor="t" anchorCtr="0"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/>
                        <a:t>0.33</a:t>
                      </a:r>
                      <a:endParaRPr lang="en-US" altLang="zh-CN" sz="1400"/>
                    </a:p>
                  </a:txBody>
                  <a:tcPr marL="101917" marR="101917" marT="101917" marB="101917" anchor="t" anchorCtr="0"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/>
                        <a:t>0.42</a:t>
                      </a:r>
                      <a:endParaRPr lang="en-US" altLang="zh-CN" sz="1400"/>
                    </a:p>
                  </a:txBody>
                  <a:tcPr marL="101917" marR="101917" marT="101917" marB="101917" anchor="t" anchorCtr="0"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/>
                        <a:t>0.37</a:t>
                      </a:r>
                      <a:endParaRPr lang="en-US" altLang="zh-CN" sz="1400"/>
                    </a:p>
                  </a:txBody>
                  <a:tcPr marL="101917" marR="101917" marT="101917" marB="101917" anchor="t" anchorCtr="0"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/>
                        <a:t>0.94</a:t>
                      </a:r>
                      <a:endParaRPr lang="en-US" altLang="zh-CN" sz="1400"/>
                    </a:p>
                  </a:txBody>
                  <a:tcPr marL="101917" marR="101917" marT="101917" marB="101917" anchor="t" anchorCtr="0"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/>
                        <a:t>0.29</a:t>
                      </a:r>
                      <a:endParaRPr lang="en-US" altLang="zh-CN" sz="1400"/>
                    </a:p>
                  </a:txBody>
                  <a:tcPr marL="101917" marR="101917" marT="101917" marB="101917" anchor="t" anchorCtr="0"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/>
                        <a:t>0.44</a:t>
                      </a:r>
                      <a:endParaRPr lang="en-US" altLang="zh-CN" sz="1400"/>
                    </a:p>
                  </a:txBody>
                  <a:tcPr marL="101917" marR="101917" marT="101917" marB="101917" anchor="t" anchorCtr="0"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/>
                        <a:t>0.35</a:t>
                      </a:r>
                      <a:endParaRPr lang="en-US" altLang="zh-CN" sz="1400"/>
                    </a:p>
                  </a:txBody>
                  <a:tcPr marL="101917" marR="101917" marT="101917" marB="101917" anchor="t" anchorCtr="0"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/>
                        <a:t>0.95</a:t>
                      </a:r>
                      <a:endParaRPr lang="en-US" altLang="zh-CN" sz="1400"/>
                    </a:p>
                  </a:txBody>
                  <a:tcPr marL="101917" marR="101917" marT="101917" marB="101917" anchor="t" anchorCtr="0"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</a:tr>
              <a:tr h="123825">
                <a:tc>
                  <a:txBody>
                    <a:bodyPr/>
                    <a:p>
                      <a:pPr algn="l" fontAlgn="t"/>
                      <a:r>
                        <a:rPr lang="en-US" altLang="zh-CN" sz="1400"/>
                        <a:t>ZestXML</a:t>
                      </a:r>
                      <a:endParaRPr lang="en-US" altLang="zh-CN" sz="1400"/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/>
                        <a:t>0.46</a:t>
                      </a:r>
                      <a:endParaRPr lang="en-US" altLang="zh-CN" sz="1400"/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/>
                        <a:t>0.40</a:t>
                      </a:r>
                      <a:endParaRPr lang="en-US" altLang="zh-CN" sz="1400"/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/>
                        <a:t>0.43</a:t>
                      </a:r>
                      <a:endParaRPr lang="en-US" altLang="zh-CN" sz="1400"/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/>
                        <a:t>0.96</a:t>
                      </a:r>
                      <a:endParaRPr lang="en-US" altLang="zh-CN" sz="1400"/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/>
                        <a:t>0.37</a:t>
                      </a:r>
                      <a:endParaRPr lang="en-US" altLang="zh-CN" sz="1400"/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/>
                        <a:t>0.48</a:t>
                      </a:r>
                      <a:endParaRPr lang="en-US" altLang="zh-CN" sz="1400"/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/>
                        <a:t>0.42</a:t>
                      </a:r>
                      <a:endParaRPr lang="en-US" altLang="zh-CN" sz="1400"/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/>
                        <a:t>0.99</a:t>
                      </a:r>
                      <a:endParaRPr lang="en-US" altLang="zh-CN" sz="1400"/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/>
                        <a:t>0.33</a:t>
                      </a:r>
                      <a:endParaRPr lang="en-US" altLang="zh-CN" sz="1400"/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/>
                        <a:t>0.51</a:t>
                      </a:r>
                      <a:endParaRPr lang="en-US" altLang="zh-CN" sz="1400"/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/>
                        <a:t>0.40</a:t>
                      </a:r>
                      <a:endParaRPr lang="en-US" altLang="zh-CN" sz="1400"/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/>
                        <a:t>0.99</a:t>
                      </a:r>
                      <a:endParaRPr lang="en-US" altLang="zh-CN" sz="1400"/>
                    </a:p>
                  </a:txBody>
                  <a:tcPr marL="101917" marR="101917" marT="101917" marB="101917" anchor="t" anchorCtr="0"/>
                </a:tc>
              </a:tr>
              <a:tr h="123825">
                <a:tc>
                  <a:txBody>
                    <a:bodyPr/>
                    <a:p>
                      <a:pPr algn="l" fontAlgn="t"/>
                      <a:r>
                        <a:rPr lang="en-US" altLang="zh-CN" sz="1400" b="1">
                          <a:solidFill>
                            <a:srgbClr val="C0000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self-tag</a:t>
                      </a:r>
                      <a:endParaRPr lang="en-US" altLang="zh-CN" sz="1400" b="1">
                        <a:solidFill>
                          <a:srgbClr val="C0000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1">
                          <a:solidFill>
                            <a:srgbClr val="C0000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0.50</a:t>
                      </a:r>
                      <a:endParaRPr lang="en-US" altLang="zh-CN" sz="1400" b="1">
                        <a:solidFill>
                          <a:srgbClr val="C0000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1">
                          <a:solidFill>
                            <a:srgbClr val="C0000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0.45</a:t>
                      </a:r>
                      <a:endParaRPr lang="en-US" altLang="zh-CN" sz="1400" b="1">
                        <a:solidFill>
                          <a:srgbClr val="C0000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1">
                          <a:solidFill>
                            <a:srgbClr val="C0000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0.47</a:t>
                      </a:r>
                      <a:endParaRPr lang="en-US" altLang="zh-CN" sz="1400" b="1">
                        <a:solidFill>
                          <a:srgbClr val="C0000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1">
                          <a:solidFill>
                            <a:srgbClr val="C0000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0.98</a:t>
                      </a:r>
                      <a:endParaRPr lang="en-US" altLang="zh-CN" sz="1400" b="1">
                        <a:solidFill>
                          <a:srgbClr val="C0000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1">
                          <a:solidFill>
                            <a:srgbClr val="C0000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0.41</a:t>
                      </a:r>
                      <a:endParaRPr lang="en-US" altLang="zh-CN" sz="1400" b="1">
                        <a:solidFill>
                          <a:srgbClr val="C0000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1">
                          <a:solidFill>
                            <a:srgbClr val="C0000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0.52</a:t>
                      </a:r>
                      <a:endParaRPr lang="en-US" altLang="zh-CN" sz="1400" b="1">
                        <a:solidFill>
                          <a:srgbClr val="C0000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1">
                          <a:solidFill>
                            <a:srgbClr val="C0000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0.46</a:t>
                      </a:r>
                      <a:endParaRPr lang="en-US" altLang="zh-CN" sz="1400" b="1">
                        <a:solidFill>
                          <a:srgbClr val="C0000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1">
                          <a:solidFill>
                            <a:srgbClr val="C0000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1.00</a:t>
                      </a:r>
                      <a:endParaRPr lang="en-US" altLang="zh-CN" sz="1400" b="1">
                        <a:solidFill>
                          <a:srgbClr val="C0000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1">
                          <a:solidFill>
                            <a:srgbClr val="C0000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0.37</a:t>
                      </a:r>
                      <a:endParaRPr lang="en-US" altLang="zh-CN" sz="1400" b="1">
                        <a:solidFill>
                          <a:srgbClr val="C0000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1">
                          <a:solidFill>
                            <a:srgbClr val="C0000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0.55</a:t>
                      </a:r>
                      <a:endParaRPr lang="en-US" altLang="zh-CN" sz="1400" b="1">
                        <a:solidFill>
                          <a:srgbClr val="C0000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1">
                          <a:solidFill>
                            <a:srgbClr val="C0000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0.44</a:t>
                      </a:r>
                      <a:endParaRPr lang="en-US" altLang="zh-CN" sz="1400" b="1">
                        <a:solidFill>
                          <a:srgbClr val="C0000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101917" marR="101917" marT="101917" marB="1019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1">
                          <a:solidFill>
                            <a:srgbClr val="C0000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1.00</a:t>
                      </a:r>
                      <a:endParaRPr lang="en-US" altLang="zh-CN" sz="1400" b="1">
                        <a:solidFill>
                          <a:srgbClr val="C0000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101917" marR="101917" marT="101917" marB="101917" anchor="t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2458991" y="1941827"/>
            <a:ext cx="5839485" cy="830997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5000" b="1" dirty="0">
                <a:solidFill>
                  <a:srgbClr val="A41C34"/>
                </a:solidFill>
                <a:latin typeface="+mj-ea"/>
                <a:ea typeface="+mj-ea"/>
              </a:rPr>
              <a:t>演示完毕 请多指点</a:t>
            </a:r>
            <a:endParaRPr lang="zh-CN" altLang="en-US" sz="5000" b="1" dirty="0">
              <a:solidFill>
                <a:srgbClr val="A41C34"/>
              </a:solidFill>
              <a:latin typeface="+mj-ea"/>
              <a:ea typeface="+mj-ea"/>
            </a:endParaRPr>
          </a:p>
        </p:txBody>
      </p:sp>
      <p:cxnSp>
        <p:nvCxnSpPr>
          <p:cNvPr id="24" name="直接连接符 23"/>
          <p:cNvCxnSpPr/>
          <p:nvPr/>
        </p:nvCxnSpPr>
        <p:spPr>
          <a:xfrm flipH="1">
            <a:off x="2542581" y="2900164"/>
            <a:ext cx="503181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 5"/>
          <p:cNvSpPr>
            <a:spLocks noEditPoints="1"/>
          </p:cNvSpPr>
          <p:nvPr/>
        </p:nvSpPr>
        <p:spPr bwMode="auto">
          <a:xfrm>
            <a:off x="0" y="1164127"/>
            <a:ext cx="1790977" cy="2869814"/>
          </a:xfrm>
          <a:custGeom>
            <a:avLst/>
            <a:gdLst>
              <a:gd name="T0" fmla="*/ 0 w 7449"/>
              <a:gd name="T1" fmla="*/ 0 h 11906"/>
              <a:gd name="T2" fmla="*/ 7449 w 7449"/>
              <a:gd name="T3" fmla="*/ 4223 h 11906"/>
              <a:gd name="T4" fmla="*/ 0 w 7449"/>
              <a:gd name="T5" fmla="*/ 4223 h 11906"/>
              <a:gd name="T6" fmla="*/ 0 w 7449"/>
              <a:gd name="T7" fmla="*/ 0 h 11906"/>
              <a:gd name="T8" fmla="*/ 7449 w 7449"/>
              <a:gd name="T9" fmla="*/ 4302 h 11906"/>
              <a:gd name="T10" fmla="*/ 0 w 7449"/>
              <a:gd name="T11" fmla="*/ 8525 h 11906"/>
              <a:gd name="T12" fmla="*/ 0 w 7449"/>
              <a:gd name="T13" fmla="*/ 4302 h 11906"/>
              <a:gd name="T14" fmla="*/ 7449 w 7449"/>
              <a:gd name="T15" fmla="*/ 4302 h 11906"/>
              <a:gd name="T16" fmla="*/ 2857 w 7449"/>
              <a:gd name="T17" fmla="*/ 10038 h 11906"/>
              <a:gd name="T18" fmla="*/ 5 w 7449"/>
              <a:gd name="T19" fmla="*/ 11903 h 11906"/>
              <a:gd name="T20" fmla="*/ 0 w 7449"/>
              <a:gd name="T21" fmla="*/ 11906 h 11906"/>
              <a:gd name="T22" fmla="*/ 0 w 7449"/>
              <a:gd name="T23" fmla="*/ 8789 h 11906"/>
              <a:gd name="T24" fmla="*/ 2857 w 7449"/>
              <a:gd name="T25" fmla="*/ 7136 h 11906"/>
              <a:gd name="T26" fmla="*/ 2857 w 7449"/>
              <a:gd name="T27" fmla="*/ 10038 h 119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449" h="11906">
                <a:moveTo>
                  <a:pt x="0" y="0"/>
                </a:moveTo>
                <a:lnTo>
                  <a:pt x="7449" y="4223"/>
                </a:lnTo>
                <a:lnTo>
                  <a:pt x="0" y="4223"/>
                </a:lnTo>
                <a:lnTo>
                  <a:pt x="0" y="0"/>
                </a:lnTo>
                <a:close/>
                <a:moveTo>
                  <a:pt x="7449" y="4302"/>
                </a:moveTo>
                <a:lnTo>
                  <a:pt x="0" y="8525"/>
                </a:lnTo>
                <a:lnTo>
                  <a:pt x="0" y="4302"/>
                </a:lnTo>
                <a:lnTo>
                  <a:pt x="7449" y="4302"/>
                </a:lnTo>
                <a:close/>
                <a:moveTo>
                  <a:pt x="2857" y="10038"/>
                </a:moveTo>
                <a:cubicBezTo>
                  <a:pt x="2537" y="11326"/>
                  <a:pt x="721" y="11825"/>
                  <a:pt x="5" y="11903"/>
                </a:cubicBezTo>
                <a:lnTo>
                  <a:pt x="0" y="11906"/>
                </a:lnTo>
                <a:lnTo>
                  <a:pt x="0" y="8789"/>
                </a:lnTo>
                <a:lnTo>
                  <a:pt x="2857" y="7136"/>
                </a:lnTo>
                <a:lnTo>
                  <a:pt x="2857" y="10038"/>
                </a:lnTo>
                <a:close/>
              </a:path>
            </a:pathLst>
          </a:custGeom>
          <a:solidFill>
            <a:srgbClr val="A41C34"/>
          </a:solidFill>
          <a:ln w="5" cap="flat">
            <a:solidFill>
              <a:srgbClr val="A41C34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A41C34"/>
              </a:solidFill>
            </a:endParaRPr>
          </a:p>
        </p:txBody>
      </p:sp>
      <p:sp>
        <p:nvSpPr>
          <p:cNvPr id="15" name="Freeform 6"/>
          <p:cNvSpPr>
            <a:spLocks noEditPoints="1"/>
          </p:cNvSpPr>
          <p:nvPr/>
        </p:nvSpPr>
        <p:spPr bwMode="auto">
          <a:xfrm>
            <a:off x="1722420" y="2203161"/>
            <a:ext cx="137114" cy="1694253"/>
          </a:xfrm>
          <a:custGeom>
            <a:avLst/>
            <a:gdLst>
              <a:gd name="T0" fmla="*/ 246 w 571"/>
              <a:gd name="T1" fmla="*/ 0 h 7028"/>
              <a:gd name="T2" fmla="*/ 246 w 571"/>
              <a:gd name="T3" fmla="*/ 2716 h 7028"/>
              <a:gd name="T4" fmla="*/ 178 w 571"/>
              <a:gd name="T5" fmla="*/ 2816 h 7028"/>
              <a:gd name="T6" fmla="*/ 286 w 571"/>
              <a:gd name="T7" fmla="*/ 2924 h 7028"/>
              <a:gd name="T8" fmla="*/ 394 w 571"/>
              <a:gd name="T9" fmla="*/ 2816 h 7028"/>
              <a:gd name="T10" fmla="*/ 325 w 571"/>
              <a:gd name="T11" fmla="*/ 2716 h 7028"/>
              <a:gd name="T12" fmla="*/ 325 w 571"/>
              <a:gd name="T13" fmla="*/ 0 h 7028"/>
              <a:gd name="T14" fmla="*/ 246 w 571"/>
              <a:gd name="T15" fmla="*/ 0 h 7028"/>
              <a:gd name="T16" fmla="*/ 0 w 571"/>
              <a:gd name="T17" fmla="*/ 3749 h 7028"/>
              <a:gd name="T18" fmla="*/ 571 w 571"/>
              <a:gd name="T19" fmla="*/ 3749 h 7028"/>
              <a:gd name="T20" fmla="*/ 571 w 571"/>
              <a:gd name="T21" fmla="*/ 3790 h 7028"/>
              <a:gd name="T22" fmla="*/ 0 w 571"/>
              <a:gd name="T23" fmla="*/ 3790 h 7028"/>
              <a:gd name="T24" fmla="*/ 0 w 571"/>
              <a:gd name="T25" fmla="*/ 3749 h 7028"/>
              <a:gd name="T26" fmla="*/ 0 w 571"/>
              <a:gd name="T27" fmla="*/ 3323 h 7028"/>
              <a:gd name="T28" fmla="*/ 0 w 571"/>
              <a:gd name="T29" fmla="*/ 3323 h 7028"/>
              <a:gd name="T30" fmla="*/ 0 w 571"/>
              <a:gd name="T31" fmla="*/ 3323 h 7028"/>
              <a:gd name="T32" fmla="*/ 286 w 571"/>
              <a:gd name="T33" fmla="*/ 3037 h 7028"/>
              <a:gd name="T34" fmla="*/ 571 w 571"/>
              <a:gd name="T35" fmla="*/ 3323 h 7028"/>
              <a:gd name="T36" fmla="*/ 571 w 571"/>
              <a:gd name="T37" fmla="*/ 3323 h 7028"/>
              <a:gd name="T38" fmla="*/ 571 w 571"/>
              <a:gd name="T39" fmla="*/ 3323 h 7028"/>
              <a:gd name="T40" fmla="*/ 571 w 571"/>
              <a:gd name="T41" fmla="*/ 3683 h 7028"/>
              <a:gd name="T42" fmla="*/ 0 w 571"/>
              <a:gd name="T43" fmla="*/ 3683 h 7028"/>
              <a:gd name="T44" fmla="*/ 0 w 571"/>
              <a:gd name="T45" fmla="*/ 3323 h 7028"/>
              <a:gd name="T46" fmla="*/ 37 w 571"/>
              <a:gd name="T47" fmla="*/ 3885 h 7028"/>
              <a:gd name="T48" fmla="*/ 0 w 571"/>
              <a:gd name="T49" fmla="*/ 3885 h 7028"/>
              <a:gd name="T50" fmla="*/ 0 w 571"/>
              <a:gd name="T51" fmla="*/ 7028 h 7028"/>
              <a:gd name="T52" fmla="*/ 37 w 571"/>
              <a:gd name="T53" fmla="*/ 7028 h 7028"/>
              <a:gd name="T54" fmla="*/ 37 w 571"/>
              <a:gd name="T55" fmla="*/ 3885 h 7028"/>
              <a:gd name="T56" fmla="*/ 126 w 571"/>
              <a:gd name="T57" fmla="*/ 3885 h 7028"/>
              <a:gd name="T58" fmla="*/ 89 w 571"/>
              <a:gd name="T59" fmla="*/ 3885 h 7028"/>
              <a:gd name="T60" fmla="*/ 89 w 571"/>
              <a:gd name="T61" fmla="*/ 7028 h 7028"/>
              <a:gd name="T62" fmla="*/ 126 w 571"/>
              <a:gd name="T63" fmla="*/ 7028 h 7028"/>
              <a:gd name="T64" fmla="*/ 126 w 571"/>
              <a:gd name="T65" fmla="*/ 3885 h 7028"/>
              <a:gd name="T66" fmla="*/ 215 w 571"/>
              <a:gd name="T67" fmla="*/ 3885 h 7028"/>
              <a:gd name="T68" fmla="*/ 178 w 571"/>
              <a:gd name="T69" fmla="*/ 3885 h 7028"/>
              <a:gd name="T70" fmla="*/ 178 w 571"/>
              <a:gd name="T71" fmla="*/ 7028 h 7028"/>
              <a:gd name="T72" fmla="*/ 215 w 571"/>
              <a:gd name="T73" fmla="*/ 7028 h 7028"/>
              <a:gd name="T74" fmla="*/ 215 w 571"/>
              <a:gd name="T75" fmla="*/ 3885 h 7028"/>
              <a:gd name="T76" fmla="*/ 304 w 571"/>
              <a:gd name="T77" fmla="*/ 3885 h 7028"/>
              <a:gd name="T78" fmla="*/ 267 w 571"/>
              <a:gd name="T79" fmla="*/ 3885 h 7028"/>
              <a:gd name="T80" fmla="*/ 267 w 571"/>
              <a:gd name="T81" fmla="*/ 7028 h 7028"/>
              <a:gd name="T82" fmla="*/ 304 w 571"/>
              <a:gd name="T83" fmla="*/ 7028 h 7028"/>
              <a:gd name="T84" fmla="*/ 304 w 571"/>
              <a:gd name="T85" fmla="*/ 3885 h 7028"/>
              <a:gd name="T86" fmla="*/ 393 w 571"/>
              <a:gd name="T87" fmla="*/ 3885 h 7028"/>
              <a:gd name="T88" fmla="*/ 356 w 571"/>
              <a:gd name="T89" fmla="*/ 3885 h 7028"/>
              <a:gd name="T90" fmla="*/ 356 w 571"/>
              <a:gd name="T91" fmla="*/ 7028 h 7028"/>
              <a:gd name="T92" fmla="*/ 393 w 571"/>
              <a:gd name="T93" fmla="*/ 7028 h 7028"/>
              <a:gd name="T94" fmla="*/ 393 w 571"/>
              <a:gd name="T95" fmla="*/ 3885 h 7028"/>
              <a:gd name="T96" fmla="*/ 482 w 571"/>
              <a:gd name="T97" fmla="*/ 3885 h 7028"/>
              <a:gd name="T98" fmla="*/ 445 w 571"/>
              <a:gd name="T99" fmla="*/ 3885 h 7028"/>
              <a:gd name="T100" fmla="*/ 445 w 571"/>
              <a:gd name="T101" fmla="*/ 7028 h 7028"/>
              <a:gd name="T102" fmla="*/ 482 w 571"/>
              <a:gd name="T103" fmla="*/ 7028 h 7028"/>
              <a:gd name="T104" fmla="*/ 482 w 571"/>
              <a:gd name="T105" fmla="*/ 3885 h 7028"/>
              <a:gd name="T106" fmla="*/ 571 w 571"/>
              <a:gd name="T107" fmla="*/ 3885 h 7028"/>
              <a:gd name="T108" fmla="*/ 534 w 571"/>
              <a:gd name="T109" fmla="*/ 3885 h 7028"/>
              <a:gd name="T110" fmla="*/ 534 w 571"/>
              <a:gd name="T111" fmla="*/ 7028 h 7028"/>
              <a:gd name="T112" fmla="*/ 571 w 571"/>
              <a:gd name="T113" fmla="*/ 7028 h 7028"/>
              <a:gd name="T114" fmla="*/ 571 w 571"/>
              <a:gd name="T115" fmla="*/ 3885 h 70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571" h="7028">
                <a:moveTo>
                  <a:pt x="246" y="0"/>
                </a:moveTo>
                <a:lnTo>
                  <a:pt x="246" y="2716"/>
                </a:lnTo>
                <a:cubicBezTo>
                  <a:pt x="206" y="2731"/>
                  <a:pt x="178" y="2770"/>
                  <a:pt x="178" y="2816"/>
                </a:cubicBezTo>
                <a:cubicBezTo>
                  <a:pt x="178" y="2876"/>
                  <a:pt x="226" y="2924"/>
                  <a:pt x="286" y="2924"/>
                </a:cubicBezTo>
                <a:cubicBezTo>
                  <a:pt x="345" y="2924"/>
                  <a:pt x="394" y="2876"/>
                  <a:pt x="394" y="2816"/>
                </a:cubicBezTo>
                <a:cubicBezTo>
                  <a:pt x="394" y="2770"/>
                  <a:pt x="365" y="2731"/>
                  <a:pt x="325" y="2716"/>
                </a:cubicBezTo>
                <a:lnTo>
                  <a:pt x="325" y="0"/>
                </a:lnTo>
                <a:lnTo>
                  <a:pt x="246" y="0"/>
                </a:lnTo>
                <a:close/>
                <a:moveTo>
                  <a:pt x="0" y="3749"/>
                </a:moveTo>
                <a:lnTo>
                  <a:pt x="571" y="3749"/>
                </a:lnTo>
                <a:lnTo>
                  <a:pt x="571" y="3790"/>
                </a:lnTo>
                <a:lnTo>
                  <a:pt x="0" y="3790"/>
                </a:lnTo>
                <a:lnTo>
                  <a:pt x="0" y="3749"/>
                </a:lnTo>
                <a:close/>
                <a:moveTo>
                  <a:pt x="0" y="3323"/>
                </a:moveTo>
                <a:lnTo>
                  <a:pt x="0" y="3323"/>
                </a:lnTo>
                <a:lnTo>
                  <a:pt x="0" y="3323"/>
                </a:lnTo>
                <a:cubicBezTo>
                  <a:pt x="0" y="3165"/>
                  <a:pt x="128" y="3037"/>
                  <a:pt x="286" y="3037"/>
                </a:cubicBezTo>
                <a:cubicBezTo>
                  <a:pt x="443" y="3037"/>
                  <a:pt x="571" y="3165"/>
                  <a:pt x="571" y="3323"/>
                </a:cubicBezTo>
                <a:lnTo>
                  <a:pt x="571" y="3323"/>
                </a:lnTo>
                <a:lnTo>
                  <a:pt x="571" y="3323"/>
                </a:lnTo>
                <a:lnTo>
                  <a:pt x="571" y="3683"/>
                </a:lnTo>
                <a:lnTo>
                  <a:pt x="0" y="3683"/>
                </a:lnTo>
                <a:lnTo>
                  <a:pt x="0" y="3323"/>
                </a:lnTo>
                <a:close/>
                <a:moveTo>
                  <a:pt x="37" y="3885"/>
                </a:moveTo>
                <a:lnTo>
                  <a:pt x="0" y="3885"/>
                </a:lnTo>
                <a:lnTo>
                  <a:pt x="0" y="7028"/>
                </a:lnTo>
                <a:lnTo>
                  <a:pt x="37" y="7028"/>
                </a:lnTo>
                <a:lnTo>
                  <a:pt x="37" y="3885"/>
                </a:lnTo>
                <a:close/>
                <a:moveTo>
                  <a:pt x="126" y="3885"/>
                </a:moveTo>
                <a:lnTo>
                  <a:pt x="89" y="3885"/>
                </a:lnTo>
                <a:lnTo>
                  <a:pt x="89" y="7028"/>
                </a:lnTo>
                <a:lnTo>
                  <a:pt x="126" y="7028"/>
                </a:lnTo>
                <a:lnTo>
                  <a:pt x="126" y="3885"/>
                </a:lnTo>
                <a:close/>
                <a:moveTo>
                  <a:pt x="215" y="3885"/>
                </a:moveTo>
                <a:lnTo>
                  <a:pt x="178" y="3885"/>
                </a:lnTo>
                <a:lnTo>
                  <a:pt x="178" y="7028"/>
                </a:lnTo>
                <a:lnTo>
                  <a:pt x="215" y="7028"/>
                </a:lnTo>
                <a:lnTo>
                  <a:pt x="215" y="3885"/>
                </a:lnTo>
                <a:close/>
                <a:moveTo>
                  <a:pt x="304" y="3885"/>
                </a:moveTo>
                <a:lnTo>
                  <a:pt x="267" y="3885"/>
                </a:lnTo>
                <a:lnTo>
                  <a:pt x="267" y="7028"/>
                </a:lnTo>
                <a:lnTo>
                  <a:pt x="304" y="7028"/>
                </a:lnTo>
                <a:lnTo>
                  <a:pt x="304" y="3885"/>
                </a:lnTo>
                <a:close/>
                <a:moveTo>
                  <a:pt x="393" y="3885"/>
                </a:moveTo>
                <a:lnTo>
                  <a:pt x="356" y="3885"/>
                </a:lnTo>
                <a:lnTo>
                  <a:pt x="356" y="7028"/>
                </a:lnTo>
                <a:lnTo>
                  <a:pt x="393" y="7028"/>
                </a:lnTo>
                <a:lnTo>
                  <a:pt x="393" y="3885"/>
                </a:lnTo>
                <a:close/>
                <a:moveTo>
                  <a:pt x="482" y="3885"/>
                </a:moveTo>
                <a:lnTo>
                  <a:pt x="445" y="3885"/>
                </a:lnTo>
                <a:lnTo>
                  <a:pt x="445" y="7028"/>
                </a:lnTo>
                <a:lnTo>
                  <a:pt x="482" y="7028"/>
                </a:lnTo>
                <a:lnTo>
                  <a:pt x="482" y="3885"/>
                </a:lnTo>
                <a:close/>
                <a:moveTo>
                  <a:pt x="571" y="3885"/>
                </a:moveTo>
                <a:lnTo>
                  <a:pt x="534" y="3885"/>
                </a:lnTo>
                <a:lnTo>
                  <a:pt x="534" y="7028"/>
                </a:lnTo>
                <a:lnTo>
                  <a:pt x="571" y="7028"/>
                </a:lnTo>
                <a:lnTo>
                  <a:pt x="571" y="3885"/>
                </a:lnTo>
                <a:close/>
              </a:path>
            </a:pathLst>
          </a:custGeom>
          <a:solidFill>
            <a:srgbClr val="A51C3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64" t="37753" b="44070"/>
          <a:stretch>
            <a:fillRect/>
          </a:stretch>
        </p:blipFill>
        <p:spPr>
          <a:xfrm>
            <a:off x="2332748" y="476927"/>
            <a:ext cx="3897571" cy="965480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2479675" y="3091816"/>
            <a:ext cx="5500370" cy="39116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b="1" dirty="0">
                <a:latin typeface="+mj-ea"/>
                <a:ea typeface="+mj-ea"/>
              </a:rPr>
              <a:t>团队名称</a:t>
            </a:r>
            <a:r>
              <a:rPr lang="en-US" altLang="zh-CN" b="1" dirty="0">
                <a:latin typeface="+mj-ea"/>
                <a:ea typeface="+mj-ea"/>
              </a:rPr>
              <a:t>：</a:t>
            </a:r>
            <a:r>
              <a:rPr lang="zh-CN" altLang="en-US" b="1" dirty="0">
                <a:latin typeface="+mj-ea"/>
                <a:ea typeface="+mj-ea"/>
              </a:rPr>
              <a:t>越来越</a:t>
            </a:r>
            <a:r>
              <a:rPr lang="en-US" altLang="zh-CN" b="1" dirty="0">
                <a:latin typeface="+mj-ea"/>
                <a:ea typeface="+mj-ea"/>
              </a:rPr>
              <a:t> AI</a:t>
            </a:r>
            <a:endParaRPr lang="en-US" altLang="zh-CN" b="1" dirty="0">
              <a:latin typeface="+mj-ea"/>
              <a:ea typeface="+mj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479675" y="3502025"/>
            <a:ext cx="887095" cy="283845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p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团队成员</a:t>
            </a:r>
            <a:r>
              <a: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kumimoji="1"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366770" y="3408680"/>
            <a:ext cx="3561715" cy="103759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p>
            <a:pPr>
              <a:lnSpc>
                <a:spcPct val="150000"/>
              </a:lnSpc>
            </a:pP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韩凡宇</a:t>
            </a:r>
            <a:r>
              <a: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华东师范大学博士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研究生</a:t>
            </a:r>
            <a:endParaRPr kumimoji="1"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马力</a:t>
            </a:r>
            <a:r>
              <a: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武汉金山办公软件有限公司</a:t>
            </a:r>
            <a:endParaRPr kumimoji="1"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刘荣清</a:t>
            </a:r>
            <a:r>
              <a: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武汉源启科技股份有限公司</a:t>
            </a:r>
            <a:endParaRPr kumimoji="1"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3249_1*l_h_i*1_1_1"/>
  <p:tag name="KSO_WM_TEMPLATE_CATEGORY" val="diagram"/>
  <p:tag name="KSO_WM_TEMPLATE_INDEX" val="20233249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404.2562537486159,&quot;left&quot;:-127.71196856160805,&quot;top&quot;:-21.85625374861588,&quot;width&quot;:844.4381103515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1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3249_1*l_h_i*1_2_1"/>
  <p:tag name="KSO_WM_TEMPLATE_CATEGORY" val="diagram"/>
  <p:tag name="KSO_WM_TEMPLATE_INDEX" val="20233249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404.2562537486159,&quot;left&quot;:-127.71196856160805,&quot;top&quot;:-21.85625374861588,&quot;width&quot;:844.438110351562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05000000074505806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13"/>
  <p:tag name="KSO_WM_UNIT_FILL_FORE_SCHEMECOLOR_INDEX_BRIGHTNESS" val="0.6"/>
  <p:tag name="KSO_WM_DIAGRAM_USE_COLOR_VALUE" val="{&quot;color_scheme&quot;:1,&quot;color_type&quot;:1,&quot;theme_color_indexes&quot;:[]}"/>
</p:tagLst>
</file>

<file path=ppt/tags/tag1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3249_1*l_h_f*1_1_1"/>
  <p:tag name="KSO_WM_TEMPLATE_CATEGORY" val="diagram"/>
  <p:tag name="KSO_WM_TEMPLATE_INDEX" val="20233249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404.2562537486159,&quot;left&quot;:-127.71196856160805,&quot;top&quot;:-21.85625374861588,&quot;width&quot;:844.43811035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07"/>
  <p:tag name="KSO_WM_UNIT_TEXT_FILL_TYPE" val="1"/>
  <p:tag name="KSO_WM_UNIT_TEXT_TYPE" val="1"/>
  <p:tag name="KSO_WM_UNIT_TEXT_LAYER_COUNT" val="1"/>
  <p:tag name="KSO_WM_BEAUTIFY_FLAG" val="#wm#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根据需要可酌情增减文字，以便观者准确地理解您传达的思想。"/>
  <p:tag name="KSO_WM_DIAGRAM_USE_COLOR_VALUE" val="{&quot;color_scheme&quot;:1,&quot;color_type&quot;:1,&quot;theme_color_indexes&quot;:[]}"/>
</p:tagLst>
</file>

<file path=ppt/tags/tag1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3249_1*l_h_f*1_2_1"/>
  <p:tag name="KSO_WM_TEMPLATE_CATEGORY" val="diagram"/>
  <p:tag name="KSO_WM_TEMPLATE_INDEX" val="20233249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404.2562537486159,&quot;left&quot;:-127.71196856160805,&quot;top&quot;:-21.85625374861588,&quot;width&quot;:844.43811035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07"/>
  <p:tag name="KSO_WM_UNIT_TEXT_TYPE" val="1"/>
  <p:tag name="KSO_WM_UNIT_TEXT_LAYER_COUNT" val="1"/>
  <p:tag name="KSO_WM_BEAUTIFY_FLAG" val="#wm#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根据需要可酌情增减文字，以便观者准确地理解您传达的思想。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3.xml><?xml version="1.0" encoding="utf-8"?>
<p:tagLst xmlns:p="http://schemas.openxmlformats.org/presentationml/2006/main">
  <p:tag name="ISPRING_PRESENTATION_TITLE" val="PowerPoint 演示文稿"/>
  <p:tag name="KSO_WPP_MARK_KEY" val="e598c703-912c-4162-8f78-4b55a7d37ccb"/>
  <p:tag name="COMMONDATA" val="eyJoZGlkIjoiN2YzNjBkOTgyNWQ1YTMxYzM3MzMwNWFiODNmOWIzYWMifQ=="/>
  <p:tag name="commondata" val="eyJoZGlkIjoiZDkzY2IzOWZlZjMxNWFjMWUwMDg5NjQyMWNkMDA2ZGQifQ=="/>
  <p:tag name="resource_record_key" val="{&quot;70&quot;:[3322427]}"/>
</p:tagLst>
</file>

<file path=ppt/theme/theme1.xml><?xml version="1.0" encoding="utf-8"?>
<a:theme xmlns:a="http://schemas.openxmlformats.org/drawingml/2006/main" name="A000120140530A99PPBG">
  <a:themeElements>
    <a:clrScheme name="自定义 95">
      <a:dk1>
        <a:sysClr val="windowText" lastClr="000000"/>
      </a:dk1>
      <a:lt1>
        <a:sysClr val="window" lastClr="FFFFFF"/>
      </a:lt1>
      <a:dk2>
        <a:srgbClr val="3F3F3F"/>
      </a:dk2>
      <a:lt2>
        <a:srgbClr val="E3DED1"/>
      </a:lt2>
      <a:accent1>
        <a:srgbClr val="071F65"/>
      </a:accent1>
      <a:accent2>
        <a:srgbClr val="7F7F7F"/>
      </a:accent2>
      <a:accent3>
        <a:srgbClr val="414456"/>
      </a:accent3>
      <a:accent4>
        <a:srgbClr val="444455"/>
      </a:accent4>
      <a:accent5>
        <a:srgbClr val="444455"/>
      </a:accent5>
      <a:accent6>
        <a:srgbClr val="7F7F7F"/>
      </a:accent6>
      <a:hlink>
        <a:srgbClr val="002060"/>
      </a:hlink>
      <a:folHlink>
        <a:srgbClr val="B26B0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90204" pitchFamily="34" charset="0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A000120140627A33KPBG</Template>
  <TotalTime>0</TotalTime>
  <Words>2639</Words>
  <Application>WPS 文字</Application>
  <PresentationFormat>全屏显示(16:9)</PresentationFormat>
  <Paragraphs>416</Paragraphs>
  <Slides>15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7" baseType="lpstr">
      <vt:lpstr>Arial</vt:lpstr>
      <vt:lpstr>宋体</vt:lpstr>
      <vt:lpstr>Wingdings</vt:lpstr>
      <vt:lpstr>微软雅黑</vt:lpstr>
      <vt:lpstr>汉仪旗黑</vt:lpstr>
      <vt:lpstr>Arial Black</vt:lpstr>
      <vt:lpstr>Wingdings 2</vt:lpstr>
      <vt:lpstr>幼圆</vt:lpstr>
      <vt:lpstr>华文宋体</vt:lpstr>
      <vt:lpstr>Calibri</vt:lpstr>
      <vt:lpstr>微软雅黑</vt:lpstr>
      <vt:lpstr>Helvetica Neue</vt:lpstr>
      <vt:lpstr>system-ui</vt:lpstr>
      <vt:lpstr>Thonburi</vt:lpstr>
      <vt:lpstr>Wingdings</vt:lpstr>
      <vt:lpstr>Arial</vt:lpstr>
      <vt:lpstr>Arial Bold</vt:lpstr>
      <vt:lpstr>Times New Roman</vt:lpstr>
      <vt:lpstr>宋体</vt:lpstr>
      <vt:lpstr>Arial Unicode MS</vt:lpstr>
      <vt:lpstr>汉仪书宋二KW</vt:lpstr>
      <vt:lpstr>A000120140530A99PPBG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号百公司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锐旗设计；https://9ppt.taobao.com</dc:title>
  <dc:creator>锐旗设计;https://9ppt.taobao.com</dc:creator>
  <cp:keywords>锐旗设计；https:/9ppt.taobao.com</cp:keywords>
  <cp:category>锐旗设计；https://9ppt.taobao.com</cp:category>
  <cp:lastModifiedBy>HanFanyu</cp:lastModifiedBy>
  <cp:revision>1494</cp:revision>
  <dcterms:created xsi:type="dcterms:W3CDTF">2025-12-27T14:07:39Z</dcterms:created>
  <dcterms:modified xsi:type="dcterms:W3CDTF">2025-12-27T14:07:39Z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2052-6.12.1.8902</vt:lpwstr>
  </property>
  <property fmtid="{D5CDD505-2E9C-101B-9397-08002B2CF9AE}" pid="3" name="ICV">
    <vt:lpwstr>4B7CF97F064B42A784507B50062C0B3C</vt:lpwstr>
  </property>
</Properties>
</file>